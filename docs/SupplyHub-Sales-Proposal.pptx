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SupplyHub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OMS + WMS Built for India's Growing Brands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3749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Order &amp; Warehouse Management for D2C Brands, 3PLs, and Modern Distributors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Proposal  •  v1.0  •  June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0" y="530352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[Client Name]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[Your Name]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[Your Email / Phone]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₹87,000 Crore Indian D2C Boom Has a Logistics Problem"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3657600" cy="393192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011680"/>
            <a:ext cx="3657600" cy="457200"/>
          </a:xfrm>
          <a:prstGeom prst="rect">
            <a:avLst/>
          </a:prstGeom>
          <a:solidFill>
            <a:srgbClr val="0F3D7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11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D2C Brand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outgrew Zoho in 6 months"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3291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with entry-level tools, now processing 200+ orders/day. Tools can't keep up.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2011680"/>
            <a:ext cx="3657600" cy="393192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2011680"/>
            <a:ext cx="3657600" cy="457200"/>
          </a:xfrm>
          <a:prstGeom prst="rect">
            <a:avLst/>
          </a:prstGeom>
          <a:solidFill>
            <a:srgbClr val="0F3D7E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2011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 Apparel Seller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80560" y="26974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"Uniware charges us per order"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80560" y="3611880"/>
            <a:ext cx="3291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platforms penalize growth. The more we sell, the more we pay in fees.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2011680"/>
            <a:ext cx="3657600" cy="393192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2011680"/>
            <a:ext cx="3657600" cy="457200"/>
          </a:xfrm>
          <a:prstGeom prst="rect">
            <a:avLst/>
          </a:prstGeom>
          <a:solidFill>
            <a:srgbClr val="0F3D7E"/>
          </a:solidFill>
          <a:ln/>
        </p:spPr>
      </p:sp>
      <p:sp>
        <p:nvSpPr>
          <p:cNvPr id="18" name="Text 16"/>
          <p:cNvSpPr/>
          <p:nvPr/>
        </p:nvSpPr>
        <p:spPr>
          <a:xfrm>
            <a:off x="8138160" y="2011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3PL Provider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21040" y="26974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run 4 warehouses on spreadsheets"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21040" y="3611880"/>
            <a:ext cx="3291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Multi-warehouse operations held together by WhatsApp groups, Excel, and phone calls.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SupplyHub  |  globalsupply.in  |  Sales Proposal v1.0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'Just Managing' Is Actually Costing You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3657600" cy="2743200"/>
          </a:xfrm>
          <a:prstGeom prst="roundRect">
            <a:avLst>
              <a:gd name="adj" fmla="val 3333"/>
            </a:avLst>
          </a:prstGeom>
          <a:solidFill>
            <a:srgbClr val="0F3D7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3736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D2C returns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caused by picking &amp; packing errors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554480"/>
            <a:ext cx="3657600" cy="2743200"/>
          </a:xfrm>
          <a:prstGeom prst="roundRect">
            <a:avLst>
              <a:gd name="adj" fmla="val 3333"/>
            </a:avLst>
          </a:prstGeom>
          <a:solidFill>
            <a:srgbClr val="0F3D7E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73736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₹2.4L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429768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month, per manager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80560" y="33832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manual tracking &amp; reconciliation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1554480"/>
            <a:ext cx="3657600" cy="2743200"/>
          </a:xfrm>
          <a:prstGeom prst="roundRect">
            <a:avLst>
              <a:gd name="adj" fmla="val 3333"/>
            </a:avLst>
          </a:prstGeom>
          <a:solidFill>
            <a:srgbClr val="0F3D7E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173736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6400" dirty="0"/>
          </a:p>
        </p:txBody>
      </p:sp>
      <p:sp>
        <p:nvSpPr>
          <p:cNvPr id="15" name="Text 13"/>
          <p:cNvSpPr/>
          <p:nvPr/>
        </p:nvSpPr>
        <p:spPr>
          <a:xfrm>
            <a:off x="813816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avg delay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21040" y="33832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inventory doesn't reconcile across channels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6634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impact for a mid-sized D2C brand: ₹15L – ₹40L lost every year to fixable operations issues.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52120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SupplyHub exists to recover that.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SupplyHub  |  globalsupply.in  |  Sales Proposal v1.0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SupplyHub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Every Order. Every Warehouse. Every Channel.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3657600" cy="320040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 w="25400">
            <a:solidFill>
              <a:srgbClr val="0F3D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945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🚀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in Days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3-7 days, not 2-4 weeks. Free data migration from any existing system.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2011680"/>
            <a:ext cx="3657600" cy="320040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 w="25400">
            <a:solidFill>
              <a:srgbClr val="0F3D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21945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💸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29768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Per-Order Fees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0" y="37490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transaction volume is your business — not our revenue stream. Unlimited growth.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2011680"/>
            <a:ext cx="3657600" cy="320040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 w="25400">
            <a:solidFill>
              <a:srgbClr val="0F3D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21945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🇮🇳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813816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India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12480" y="37490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GST, E-way bill, COD, multi-warehouse, multi-lingual. Made ground-up for Indian ops.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371600" y="5486400"/>
            <a:ext cx="9418320" cy="822960"/>
          </a:xfrm>
          <a:prstGeom prst="roundRect">
            <a:avLst>
              <a:gd name="adj" fmla="val 5556"/>
            </a:avLst>
          </a:prstGeom>
          <a:solidFill>
            <a:srgbClr val="0F3D7E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548640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Tower: real-time visibility into orders, SKUs, warehouses, and channels.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SupplyHub  |  globalsupply.in  |  Sales Proposal v1.0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Inbound: From PO to Putaway, Without a Spreadsheet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receipt, every scan, every bin — tracked, timestamped, auditable.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103120" cy="914400"/>
          </a:xfrm>
          <a:prstGeom prst="roundRect">
            <a:avLst>
              <a:gd name="adj" fmla="val 5000"/>
            </a:avLst>
          </a:prstGeom>
          <a:solidFill>
            <a:srgbClr val="0F3D7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 rot="5400000">
            <a:off x="2578608" y="2194560"/>
            <a:ext cx="182880" cy="182880"/>
          </a:xfrm>
          <a:prstGeom prst="rightTriangl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2788920" y="1828800"/>
            <a:ext cx="2103120" cy="914400"/>
          </a:xfrm>
          <a:prstGeom prst="roundRect">
            <a:avLst>
              <a:gd name="adj" fmla="val 5000"/>
            </a:avLst>
          </a:prstGeom>
          <a:solidFill>
            <a:srgbClr val="0F3D7E"/>
          </a:solidFill>
          <a:ln/>
        </p:spPr>
      </p:sp>
      <p:sp>
        <p:nvSpPr>
          <p:cNvPr id="10" name="Text 8"/>
          <p:cNvSpPr/>
          <p:nvPr/>
        </p:nvSpPr>
        <p:spPr>
          <a:xfrm>
            <a:off x="2788920" y="182880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 rot="5400000">
            <a:off x="4910328" y="2194560"/>
            <a:ext cx="182880" cy="182880"/>
          </a:xfrm>
          <a:prstGeom prst="rightTriangle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120640" y="1828800"/>
            <a:ext cx="2103120" cy="914400"/>
          </a:xfrm>
          <a:prstGeom prst="roundRect">
            <a:avLst>
              <a:gd name="adj" fmla="val 5000"/>
            </a:avLst>
          </a:prstGeom>
          <a:solidFill>
            <a:srgbClr val="0F3D7E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182880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GRN + QC Scan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 rot="5400000">
            <a:off x="7242048" y="2194560"/>
            <a:ext cx="182880" cy="182880"/>
          </a:xfrm>
          <a:prstGeom prst="rightTriangle">
            <a:avLst/>
          </a:prstGeom>
          <a:solidFill>
            <a:srgbClr val="F59E0B"/>
          </a:solidFill>
          <a:ln/>
        </p:spPr>
      </p:sp>
      <p:sp>
        <p:nvSpPr>
          <p:cNvPr id="15" name="Shape 13"/>
          <p:cNvSpPr/>
          <p:nvPr/>
        </p:nvSpPr>
        <p:spPr>
          <a:xfrm>
            <a:off x="7452360" y="1828800"/>
            <a:ext cx="2103120" cy="914400"/>
          </a:xfrm>
          <a:prstGeom prst="roundRect">
            <a:avLst>
              <a:gd name="adj" fmla="val 5000"/>
            </a:avLst>
          </a:prstGeom>
          <a:solidFill>
            <a:srgbClr val="0F3D7E"/>
          </a:solidFill>
          <a:ln/>
        </p:spPr>
      </p:sp>
      <p:sp>
        <p:nvSpPr>
          <p:cNvPr id="16" name="Text 14"/>
          <p:cNvSpPr/>
          <p:nvPr/>
        </p:nvSpPr>
        <p:spPr>
          <a:xfrm>
            <a:off x="7452360" y="182880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Putaway Task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 rot="5400000">
            <a:off x="9573768" y="2194560"/>
            <a:ext cx="182880" cy="182880"/>
          </a:xfrm>
          <a:prstGeom prst="rightTriangle">
            <a:avLst/>
          </a:prstGeom>
          <a:solidFill>
            <a:srgbClr val="F59E0B"/>
          </a:solidFill>
          <a:ln/>
        </p:spPr>
      </p:sp>
      <p:sp>
        <p:nvSpPr>
          <p:cNvPr id="18" name="Shape 16"/>
          <p:cNvSpPr/>
          <p:nvPr/>
        </p:nvSpPr>
        <p:spPr>
          <a:xfrm>
            <a:off x="9784080" y="1828800"/>
            <a:ext cx="2103120" cy="914400"/>
          </a:xfrm>
          <a:prstGeom prst="roundRect">
            <a:avLst>
              <a:gd name="adj" fmla="val 5000"/>
            </a:avLst>
          </a:prstGeom>
          <a:solidFill>
            <a:srgbClr val="0F3D7E"/>
          </a:solidFill>
          <a:ln/>
        </p:spPr>
      </p:sp>
      <p:sp>
        <p:nvSpPr>
          <p:cNvPr id="19" name="Text 17"/>
          <p:cNvSpPr/>
          <p:nvPr/>
        </p:nvSpPr>
        <p:spPr>
          <a:xfrm>
            <a:off x="9784080" y="182880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Location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3657600" cy="3017520"/>
          </a:xfrm>
          <a:prstGeom prst="roundRect">
            <a:avLst>
              <a:gd name="adj" fmla="val 303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200400"/>
            <a:ext cx="137160" cy="3017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3832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Invoice Tracking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" y="3931920"/>
            <a:ext cx="3291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vendor invoice number, batch, MRP, expiry — for clean GST records.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97680" y="3200400"/>
            <a:ext cx="3657600" cy="3017520"/>
          </a:xfrm>
          <a:prstGeom prst="roundRect">
            <a:avLst>
              <a:gd name="adj" fmla="val 303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97680" y="3200400"/>
            <a:ext cx="137160" cy="3017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33832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Station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72000" y="3931920"/>
            <a:ext cx="3291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Per-item Pass/Fail scan. Approved qty flows to inventory; rejected tracked separately.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38160" y="3200400"/>
            <a:ext cx="3657600" cy="3017520"/>
          </a:xfrm>
          <a:prstGeom prst="roundRect">
            <a:avLst>
              <a:gd name="adj" fmla="val 303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38160" y="3200400"/>
            <a:ext cx="137160" cy="3017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8412480" y="33832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Putaway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412480" y="3931920"/>
            <a:ext cx="3291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putaway flow handles GRN, Gatepass, Returns, Stock Transfer — no separate screens.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SupplyHub  |  globalsupply.in  |  Sales Proposal v1.0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Inventory: Real-Time, Multi-Warehouse, Bin-Level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3657600" cy="2103120"/>
          </a:xfrm>
          <a:prstGeom prst="roundRect">
            <a:avLst>
              <a:gd name="adj" fmla="val 434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371600" y="1645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Stock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10312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warehouse, bin, batch, expiry — all in real time.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657600" cy="2103120"/>
          </a:xfrm>
          <a:prstGeom prst="roundRect">
            <a:avLst>
              <a:gd name="adj" fmla="val 434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🏷️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212080" y="1645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EPC + SKU Dual-Scan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12080" y="210312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first. Scan either code, system recognizes instantly.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1463040"/>
            <a:ext cx="3657600" cy="2103120"/>
          </a:xfrm>
          <a:prstGeom prst="roundRect">
            <a:avLst>
              <a:gd name="adj" fmla="val 434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📦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052560" y="1645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Replenishment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052560" y="210312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Reorder-point alerts raise replenishment tasks automatically.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3657600" cy="2103120"/>
          </a:xfrm>
          <a:prstGeom prst="roundRect">
            <a:avLst>
              <a:gd name="adj" fmla="val 434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023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🔍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371600" y="4023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Cycle Count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448056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counts, system reconciles, variance reports generated.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97680" y="3840480"/>
            <a:ext cx="3657600" cy="2103120"/>
          </a:xfrm>
          <a:prstGeom prst="roundRect">
            <a:avLst>
              <a:gd name="adj" fmla="val 434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4023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📅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5212080" y="4023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&amp; Expiry (FEFO)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12080" y="448056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First-Expiry-First-Out picking. Critical for F&amp;B, pharma, cosmetics.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38160" y="3840480"/>
            <a:ext cx="3657600" cy="2103120"/>
          </a:xfrm>
          <a:prstGeom prst="roundRect">
            <a:avLst>
              <a:gd name="adj" fmla="val 434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0" y="4023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🧬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9052560" y="4023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SKU History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052560" y="448056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event, every location, with running balance. Try getting this from Zoho.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SupplyHub  |  globalsupply.in  |  Sales Proposal v1.0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Outbound: From Order to Shipment in 90 Seconds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Wave-pick. Pack. Manifest. Hand over to courier. Done.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103120" cy="914400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 rot="5400000">
            <a:off x="2578608" y="2194560"/>
            <a:ext cx="182880" cy="182880"/>
          </a:xfrm>
          <a:prstGeom prst="rightTriangle">
            <a:avLst/>
          </a:prstGeom>
          <a:solidFill>
            <a:srgbClr val="0F3D7E"/>
          </a:solidFill>
          <a:ln/>
        </p:spPr>
      </p:sp>
      <p:sp>
        <p:nvSpPr>
          <p:cNvPr id="9" name="Shape 7"/>
          <p:cNvSpPr/>
          <p:nvPr/>
        </p:nvSpPr>
        <p:spPr>
          <a:xfrm>
            <a:off x="2788920" y="1828800"/>
            <a:ext cx="2103120" cy="914400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2788920" y="182880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Picking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 rot="5400000">
            <a:off x="4910328" y="2194560"/>
            <a:ext cx="182880" cy="182880"/>
          </a:xfrm>
          <a:prstGeom prst="rightTriangle">
            <a:avLst/>
          </a:prstGeom>
          <a:solidFill>
            <a:srgbClr val="0F3D7E"/>
          </a:solidFill>
          <a:ln/>
        </p:spPr>
      </p:sp>
      <p:sp>
        <p:nvSpPr>
          <p:cNvPr id="12" name="Shape 10"/>
          <p:cNvSpPr/>
          <p:nvPr/>
        </p:nvSpPr>
        <p:spPr>
          <a:xfrm>
            <a:off x="5120640" y="1828800"/>
            <a:ext cx="2103120" cy="914400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182880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Packing Station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 rot="5400000">
            <a:off x="7242048" y="2194560"/>
            <a:ext cx="182880" cy="182880"/>
          </a:xfrm>
          <a:prstGeom prst="rightTriangle">
            <a:avLst/>
          </a:prstGeom>
          <a:solidFill>
            <a:srgbClr val="0F3D7E"/>
          </a:solidFill>
          <a:ln/>
        </p:spPr>
      </p:sp>
      <p:sp>
        <p:nvSpPr>
          <p:cNvPr id="15" name="Shape 13"/>
          <p:cNvSpPr/>
          <p:nvPr/>
        </p:nvSpPr>
        <p:spPr>
          <a:xfrm>
            <a:off x="7452360" y="1828800"/>
            <a:ext cx="2103120" cy="914400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7452360" y="182880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 rot="5400000">
            <a:off x="9573768" y="2194560"/>
            <a:ext cx="182880" cy="182880"/>
          </a:xfrm>
          <a:prstGeom prst="rightTriangle">
            <a:avLst/>
          </a:prstGeom>
          <a:solidFill>
            <a:srgbClr val="0F3D7E"/>
          </a:solidFill>
          <a:ln/>
        </p:spPr>
      </p:sp>
      <p:sp>
        <p:nvSpPr>
          <p:cNvPr id="18" name="Shape 16"/>
          <p:cNvSpPr/>
          <p:nvPr/>
        </p:nvSpPr>
        <p:spPr>
          <a:xfrm>
            <a:off x="9784080" y="1828800"/>
            <a:ext cx="2103120" cy="914400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9784080" y="182880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Courier Handover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557784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2918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Picking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365760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20-30 orders. Picker walks one optimized path, scans each SKU.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3200400"/>
            <a:ext cx="557784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32918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Per-SKU Scan Count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0" y="365760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scanned vs ordered per SKU — catches short picks before they ship.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754880"/>
            <a:ext cx="557784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8463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One-Scan Receive + QC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521208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GRN scan combines receive + QC. Collapses two steps into one.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4754880"/>
            <a:ext cx="557784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48463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Uniware-Format PDFs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0" y="521208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invoices, shipping labels, manifests — auto-generated in industry format.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SupplyHub  |  globalsupply.in  |  Sales Proposal v1.0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Compare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features at SMB pricing. No per-order fees.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112471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057400"/>
                <a:gridCol w="2057400"/>
                <a:gridCol w="2057400"/>
                <a:gridCol w="20574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SupplyHub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Unicommerce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Shiprocket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Zoho Inventory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Per-order pricing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3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flat fee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(penalizes growth)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flat fee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Bin-level inventory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3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EPC + SKU dual-scan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3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Multi-warehouse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3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Unlimited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 picking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3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GST + E-way bill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3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 count (blind)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3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 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3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3-7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2-4 weeks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2-4 weeks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weeks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Starting price (annual)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3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₹24,000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₹60,000+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₹36,000+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₹8,400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SupplyHub  |  globalsupply.in  |  Sales Proposal v1.0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We've Built This For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3657600" cy="493776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solidFill>
            <a:srgbClr val="0F3D7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D2C Apparel Brand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🛍️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 SKUs • 800 orders/day • 1 warehouse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7490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Replaced Zoho + Excel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3891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Picking errors: 8% → 0.4%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50292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Saved 14 hours/week of manager time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97680" y="1371600"/>
            <a:ext cx="3657600" cy="493776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1371600"/>
            <a:ext cx="3657600" cy="457200"/>
          </a:xfrm>
          <a:prstGeom prst="rect">
            <a:avLst/>
          </a:prstGeom>
          <a:solidFill>
            <a:srgbClr val="0F3D7E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3PL Fulfillment Provider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97680" y="20116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📦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4480560" y="30175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warehouses • 12 clients • mixed SKUs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37490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Replaced Unicommerce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43891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Saved ₹4.2L/year in per-order fees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50292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Multi-client inventory isolation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38160" y="1371600"/>
            <a:ext cx="3657600" cy="493776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38160" y="1371600"/>
            <a:ext cx="3657600" cy="457200"/>
          </a:xfrm>
          <a:prstGeom prst="rect">
            <a:avLst/>
          </a:prstGeom>
          <a:solidFill>
            <a:srgbClr val="0F3D7E"/>
          </a:solidFill>
          <a:ln/>
        </p:spPr>
      </p:sp>
      <p:sp>
        <p:nvSpPr>
          <p:cNvPr id="23" name="Text 21"/>
          <p:cNvSpPr/>
          <p:nvPr/>
        </p:nvSpPr>
        <p:spPr>
          <a:xfrm>
            <a:off x="813816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Distributor → Omnichannel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38160" y="20116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🏪</a:t>
            </a:r>
            <a:endParaRPr lang="en-US" sz="4800" dirty="0"/>
          </a:p>
        </p:txBody>
      </p:sp>
      <p:sp>
        <p:nvSpPr>
          <p:cNvPr id="25" name="Text 23"/>
          <p:cNvSpPr/>
          <p:nvPr/>
        </p:nvSpPr>
        <p:spPr>
          <a:xfrm>
            <a:off x="8321040" y="30175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SKUs • B2B + D2C hybrid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12480" y="37490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Replaced manual register + Tally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12480" y="43891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Batch &amp; expiry management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12480" y="50292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95% same-day dispatch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SupplyHub  |  globalsupply.in  |  Sales Proposal v1.0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Scale, Designed for Simplicity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cloud architecture, battle-tested stack, India-first integrations.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657600" cy="3108960"/>
          </a:xfrm>
          <a:prstGeom prst="roundRect">
            <a:avLst>
              <a:gd name="adj" fmla="val 2941"/>
            </a:avLst>
          </a:prstGeom>
          <a:solidFill>
            <a:srgbClr val="F1F5F9"/>
          </a:solidFill>
          <a:ln w="25400">
            <a:solidFill>
              <a:srgbClr val="0F3D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28800"/>
            <a:ext cx="3657600" cy="548640"/>
          </a:xfrm>
          <a:prstGeom prst="rect">
            <a:avLst/>
          </a:prstGeom>
          <a:solidFill>
            <a:srgbClr val="0F3D7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28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 + Tailwind (frontend)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971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Node.js + Express (API)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383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TypeScript end-to-end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794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Mobile-responsive UI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206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REST + Webhook APIs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1828800"/>
            <a:ext cx="3657600" cy="3108960"/>
          </a:xfrm>
          <a:prstGeom prst="roundRect">
            <a:avLst>
              <a:gd name="adj" fmla="val 2941"/>
            </a:avLst>
          </a:prstGeom>
          <a:solidFill>
            <a:srgbClr val="F1F5F9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0" y="1828800"/>
            <a:ext cx="365760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0" y="1828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Infrastructure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0" y="2560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PostgreSQL + Prisma ORM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2971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S3 (encrypted backups)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3383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Redis (background jobs)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3794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Render (cloud hosting)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4206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Cloudflare (CDN + security)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38160" y="1828800"/>
            <a:ext cx="3657600" cy="3108960"/>
          </a:xfrm>
          <a:prstGeom prst="roundRect">
            <a:avLst>
              <a:gd name="adj" fmla="val 2941"/>
            </a:avLst>
          </a:prstGeom>
          <a:solidFill>
            <a:srgbClr val="F1F5F9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38160" y="1828800"/>
            <a:ext cx="365760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8138160" y="1828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412480" y="2560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JWT authentication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12480" y="2971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Role-Based Access Control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412480" y="3383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Multi-Factor Authentication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12480" y="3794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Complete audit logs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12480" y="4206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ISO 27001-ready infra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5212080"/>
            <a:ext cx="11247120" cy="914400"/>
          </a:xfrm>
          <a:prstGeom prst="roundRect">
            <a:avLst>
              <a:gd name="adj" fmla="val 5000"/>
            </a:avLst>
          </a:prstGeom>
          <a:solidFill>
            <a:srgbClr val="0F3D7E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52120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Integrations: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017520" y="521208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Delhivery  •  BlueDart  •  Shiprocket  •  India Post  •  Shopify  •  Amazon  •  Flipkart  •  Your ERP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SupplyHub  |  globalsupply.in  |  Sales Proposal v1.0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Transparent Pricing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per-order surprises. No per-warehouse fees. No hidden costs.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3657600" cy="411480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₹2,500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  •  ₹24,000/yr (save 20%)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7033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warehouse, 500 SKUs, 1,000 orders/mo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42976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Unlimited users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459028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GST invoicing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488289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E-way bill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517550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Mobile scan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546811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Standard integrations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97680" y="1737360"/>
            <a:ext cx="3657600" cy="4114800"/>
          </a:xfrm>
          <a:prstGeom prst="roundRect">
            <a:avLst>
              <a:gd name="adj" fmla="val 2500"/>
            </a:avLst>
          </a:prstGeom>
          <a:solidFill>
            <a:srgbClr val="0F3D7E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1737360"/>
            <a:ext cx="365760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0" y="1737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9768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297680" y="26974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₹6,000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4297680" y="3337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  •  ₹57,600/yr (save 20%)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80560" y="37033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warehouses, 5,000 SKUs, 10,000 orders/mo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0" y="42976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Everything in Starter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0" y="459028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Wave picking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0" y="488289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Multi-client (3PL)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0" y="517550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Dedicated success manager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0" y="546811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Priority support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138160" y="1737360"/>
            <a:ext cx="3657600" cy="411480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3816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138160" y="26974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8138160" y="3337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for quote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321040" y="37033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warehouses, unlimited SKUs &amp; orders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412480" y="42976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Everything in Growth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412480" y="459028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Unlimited warehouses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412480" y="488289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Custom integrations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412480" y="517550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On-site training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412480" y="546811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99.9% SLA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 15-day free trial — full feature access, no credit card required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SupplyHub  |  globalsupply.in  |  Sales Proposal v1.0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Numbers. Your ROI.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for a mid-market D2C brand processing 5,000 orders/month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657600" cy="2194560"/>
          </a:xfrm>
          <a:prstGeom prst="roundRect">
            <a:avLst>
              <a:gd name="adj" fmla="val 4167"/>
            </a:avLst>
          </a:prstGeom>
          <a:solidFill>
            <a:srgbClr val="F1F5F9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202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₹40,000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Saved/month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error reduction (5,000 orders × 2% × ₹400 return cost)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0" y="1828800"/>
            <a:ext cx="3657600" cy="2194560"/>
          </a:xfrm>
          <a:prstGeom prst="roundRect">
            <a:avLst>
              <a:gd name="adj" fmla="val 4167"/>
            </a:avLst>
          </a:prstGeom>
          <a:solidFill>
            <a:srgbClr val="F1F5F9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19202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₹28,000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29768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Saved/month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0560" y="32004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manager time recovered (14 hrs/week × ₹500/hr)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3657600" cy="2194560"/>
          </a:xfrm>
          <a:prstGeom prst="roundRect">
            <a:avLst>
              <a:gd name="adj" fmla="val 4167"/>
            </a:avLst>
          </a:prstGeom>
          <a:solidFill>
            <a:srgbClr val="F1F5F9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19202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₹22,000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13816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Saved/month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21040" y="32004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Unicommerce subscription + per-order fees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297680"/>
            <a:ext cx="11247120" cy="1737360"/>
          </a:xfrm>
          <a:prstGeom prst="roundRect">
            <a:avLst>
              <a:gd name="adj" fmla="val 5263"/>
            </a:avLst>
          </a:prstGeom>
          <a:solidFill>
            <a:srgbClr val="0F3D7E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434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monthly benefit: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₹90,000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5943600" y="443484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SupplyHub annual cost: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0" y="480060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₹57,600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457200" y="54406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annual ROI: ₹10,22,400  •  ~1,775% return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SupplyHub  |  globalsupply.in  |  Sales Proposal v1.0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Sign-Up to First Shipment in 7 Days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data migration included. Dedicated hypercare team watches your go-live.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234440" y="201168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828800" y="2286000"/>
            <a:ext cx="169164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974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1-2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971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Account, warehouses, user invitations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66160" y="201168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160520" y="2286000"/>
            <a:ext cx="169164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88920" y="26974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3-4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88920" y="2971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788920" y="33832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import, bin setup, suppliers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897880" y="201168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589788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92240" y="2286000"/>
            <a:ext cx="169164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26974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20640" y="2971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20640" y="33832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library + live Q&amp;A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29600" y="201168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823960" y="2286000"/>
            <a:ext cx="169164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52360" y="26974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52360" y="2971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452360" y="33832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Couriers, channels, integrations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561320" y="201168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1056132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784080" y="26974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784080" y="2971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784080" y="33832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UAT, hypercare, first shipments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572000"/>
            <a:ext cx="11247120" cy="1737360"/>
          </a:xfrm>
          <a:prstGeom prst="roundRect">
            <a:avLst>
              <a:gd name="adj" fmla="val 526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6634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Support Included in Every Plan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0080" y="5212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  40+ video tutorials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383280" y="5212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In-app chat (all plans)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26480" y="5212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Dedicated success manager (Growth+)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869680" y="5212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👨‍💻  Free data migration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SupplyHub  |  globalsupply.in  |  Sales Proposal v1.0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3D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57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Get Your Warehouses Live in 7 Days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path that works for you: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920240"/>
            <a:ext cx="338328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Free Trial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29260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15-day full-feature access.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credit card, no commitment.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in 2 hours.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45262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trial.supplyhub.in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192024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389120" y="1920240"/>
            <a:ext cx="338328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19202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0" y="23774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Live Demo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0" y="29260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 walkthrough with your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SKUs, your warehouses, your workflows.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45262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calendly.com/supplyhub-demo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46720" y="192024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8046720" y="1920240"/>
            <a:ext cx="338328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0" y="19202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0" y="23774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Pilot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229600" y="29260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3PLs and enterprises.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Scoped, priced, delivered in 30 days.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46720" y="45262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contact@globalsupply.in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5486400"/>
            <a:ext cx="10698480" cy="822960"/>
          </a:xfrm>
          <a:prstGeom prst="roundRect">
            <a:avLst>
              <a:gd name="adj" fmla="val 5556"/>
            </a:avLst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54864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 This Quarter Only: 2 months FREE  +  Free data migration  +  Free courier integration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 •  Questions welcome.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You're Probably Asking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5577840" cy="137160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if I'm already on Unicommerce?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Free migration in 14 days, no data loss.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577840" cy="137160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5544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Do I need to change my courier?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201168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No — we integrate with Delhivery, BlueDart, Shiprocket, India Post, and more.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577840" cy="137160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1089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Can my CA access the system for GST?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56616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Yes — role-based access, read-only CA role available.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3017520"/>
            <a:ext cx="5577840" cy="137160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31089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about barcode printers and scanners?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356616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Works with any standard hardware (Zebra, Honeywell, generic USB scanners).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572000"/>
            <a:ext cx="5577840" cy="137160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6634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Is my data secure?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12064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Daily S3 backups, AES-256 encryption, ISO 27001-ready infrastructure.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4572000"/>
            <a:ext cx="5577840" cy="137160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46634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Do you have a mobile app?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512064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Mobile-responsive web app today; native apps coming Q1 2027.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SupplyHub  |  globalsupply.in  |  Sales Proposal v1.0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SupplyHub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SupplyHub — Client Sales Proposal</dc:title>
  <dc:subject>OMS + WMS Sales Proposal</dc:subject>
  <dc:creator>SupplyHub</dc:creator>
  <cp:lastModifiedBy>SupplyHub</cp:lastModifiedBy>
  <cp:revision>1</cp:revision>
  <dcterms:created xsi:type="dcterms:W3CDTF">2026-06-06T17:13:33Z</dcterms:created>
  <dcterms:modified xsi:type="dcterms:W3CDTF">2026-06-06T17:13:33Z</dcterms:modified>
</cp:coreProperties>
</file>