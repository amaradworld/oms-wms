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4630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GlobalSupply Technologies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2468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 &amp; UAT Test Guide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3108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User Training and User-Acceptance Testing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3931920"/>
            <a:ext cx="3657600" cy="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206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GlobalSupply Technologies  •  v2.0  •  June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4572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internal training, customer onboarding, and UAT sign-off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6035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globalsupply.in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Document Covers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training and UAT reference for warehouse teams, supervisors, and admins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12700">
            <a:solidFill>
              <a:srgbClr val="2C40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3657600" cy="164592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810512"/>
            <a:ext cx="3657600" cy="120700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20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End-to-End Lifecycle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→ Stock → Order → Ship → Dispatch — the full journey in 8 steps.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1645920"/>
            <a:ext cx="3657600" cy="1645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Shape 9"/>
          <p:cNvSpPr/>
          <p:nvPr/>
        </p:nvSpPr>
        <p:spPr>
          <a:xfrm>
            <a:off x="4343400" y="1810512"/>
            <a:ext cx="3657600" cy="120700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920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Inbound Process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6280" y="24231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→ ASN → GRN → QC → Putaway → Bin. How stock enters your warehouse. Supports supplier overshipment.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0" y="1645920"/>
            <a:ext cx="3657600" cy="164592"/>
          </a:xfrm>
          <a:prstGeom prst="rect">
            <a:avLst/>
          </a:prstGeom>
          <a:solidFill>
            <a:srgbClr val="7B6CE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0" y="1810512"/>
            <a:ext cx="3657600" cy="120700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1920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Outbound Process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12480" y="24231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→ Wave Picking → Packing → AWB → Manifest → Dispatch. FEFO soft reservation.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3657600" cy="164592"/>
          </a:xfrm>
          <a:prstGeom prst="rect">
            <a:avLst/>
          </a:prstGeom>
          <a:solidFill>
            <a:srgbClr val="2DBE85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364992"/>
            <a:ext cx="3657600" cy="120700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474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Inventory Controls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3977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count, FEFO expiry, replenishment, SKU history, ABC classification, directed putaway.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43400" y="3200400"/>
            <a:ext cx="3657600" cy="164592"/>
          </a:xfrm>
          <a:prstGeom prst="rect">
            <a:avLst/>
          </a:prstGeom>
          <a:solidFill>
            <a:srgbClr val="FF5470"/>
          </a:solidFill>
          <a:ln/>
        </p:spPr>
      </p:sp>
      <p:sp>
        <p:nvSpPr>
          <p:cNvPr id="23" name="Shape 21"/>
          <p:cNvSpPr/>
          <p:nvPr/>
        </p:nvSpPr>
        <p:spPr>
          <a:xfrm>
            <a:off x="4343400" y="3364992"/>
            <a:ext cx="3657600" cy="120700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24" name="Text 22"/>
          <p:cNvSpPr/>
          <p:nvPr/>
        </p:nvSpPr>
        <p:spPr>
          <a:xfrm>
            <a:off x="4526280" y="3474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Returns &amp; RTO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26280" y="3977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return intake, QC, restock, and reverse pickup. Auto-RTO after 3 failed attempts.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29600" y="3200400"/>
            <a:ext cx="3657600" cy="16459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7" name="Shape 25"/>
          <p:cNvSpPr/>
          <p:nvPr/>
        </p:nvSpPr>
        <p:spPr>
          <a:xfrm>
            <a:off x="8229600" y="3364992"/>
            <a:ext cx="3657600" cy="120700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0" y="3474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Allocation Engine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412480" y="3977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FEFO batch allocation, soft reservation, partial allocation, manifest close = hard deduction.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754880"/>
            <a:ext cx="3657600" cy="164592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4919472"/>
            <a:ext cx="3657600" cy="120700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5029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 Marketplace &amp; Webhooks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0080" y="55321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Flipkart/Nykaa/Myntra/TataCliq connectors, webhook processing, auto-NDR, channel-aware ATS.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343400" y="4754880"/>
            <a:ext cx="3657600" cy="1645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5" name="Shape 33"/>
          <p:cNvSpPr/>
          <p:nvPr/>
        </p:nvSpPr>
        <p:spPr>
          <a:xfrm>
            <a:off x="4343400" y="4919472"/>
            <a:ext cx="3657600" cy="120700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36" name="Text 34"/>
          <p:cNvSpPr/>
          <p:nvPr/>
        </p:nvSpPr>
        <p:spPr>
          <a:xfrm>
            <a:off x="4526280" y="5029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 Warehouse Intelligence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526280" y="55321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putaway, auto-wave by carrier, QC quarantine, blind cycle count.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229600" y="4754880"/>
            <a:ext cx="3657600" cy="164592"/>
          </a:xfrm>
          <a:prstGeom prst="rect">
            <a:avLst/>
          </a:prstGeom>
          <a:solidFill>
            <a:srgbClr val="7B6CE0"/>
          </a:solidFill>
          <a:ln/>
        </p:spPr>
      </p:sp>
      <p:sp>
        <p:nvSpPr>
          <p:cNvPr id="39" name="Shape 37"/>
          <p:cNvSpPr/>
          <p:nvPr/>
        </p:nvSpPr>
        <p:spPr>
          <a:xfrm>
            <a:off x="8229600" y="4919472"/>
            <a:ext cx="3657600" cy="120700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40" name="Text 38"/>
          <p:cNvSpPr/>
          <p:nvPr/>
        </p:nvSpPr>
        <p:spPr>
          <a:xfrm>
            <a:off x="8412480" y="5029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09. Compliance &amp; Settlement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412480" y="55321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invoicing, e-invoicing IRN, credit notes, COD reconciliation.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6309360"/>
            <a:ext cx="3657600" cy="164592"/>
          </a:xfrm>
          <a:prstGeom prst="rect">
            <a:avLst/>
          </a:prstGeom>
          <a:solidFill>
            <a:srgbClr val="2DBE85"/>
          </a:solidFill>
          <a:ln/>
        </p:spPr>
      </p:sp>
      <p:sp>
        <p:nvSpPr>
          <p:cNvPr id="43" name="Shape 41"/>
          <p:cNvSpPr/>
          <p:nvPr/>
        </p:nvSpPr>
        <p:spPr>
          <a:xfrm>
            <a:off x="457200" y="6473952"/>
            <a:ext cx="3657600" cy="120700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" y="6583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Safety &amp; Access Control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40080" y="7086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critical security fixes, idempotency guards, owner-controlled menu access per company.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343400" y="6309360"/>
            <a:ext cx="3657600" cy="164592"/>
          </a:xfrm>
          <a:prstGeom prst="rect">
            <a:avLst/>
          </a:prstGeom>
          <a:solidFill>
            <a:srgbClr val="FF5470"/>
          </a:solidFill>
          <a:ln/>
        </p:spPr>
      </p:sp>
      <p:sp>
        <p:nvSpPr>
          <p:cNvPr id="47" name="Shape 45"/>
          <p:cNvSpPr/>
          <p:nvPr/>
        </p:nvSpPr>
        <p:spPr>
          <a:xfrm>
            <a:off x="4343400" y="6473952"/>
            <a:ext cx="3657600" cy="120700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48" name="Text 46"/>
          <p:cNvSpPr/>
          <p:nvPr/>
        </p:nvSpPr>
        <p:spPr>
          <a:xfrm>
            <a:off x="4526280" y="6583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UAT Test Cases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4526280" y="7086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manual test cases across all modules. Each with pre-conditions, steps, and expected results.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GlobalSupply Technologies  |  User Training &amp; UAT  |  globalsupply.in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&amp; Responsibilities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roles, each with a specific scope in the warehouse operation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12700">
            <a:solidFill>
              <a:srgbClr val="2C40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3657600" cy="164592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81051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20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Owner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Cross-tenant, no warehouse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tenants, sees all data, configures global settings.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1645920"/>
            <a:ext cx="3657600" cy="1645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Shape 9"/>
          <p:cNvSpPr/>
          <p:nvPr/>
        </p:nvSpPr>
        <p:spPr>
          <a:xfrm>
            <a:off x="4343400" y="181051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920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Admin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6280" y="242316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tenant, all warehouses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 to their org. Users, settings, integrations, billing.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0" y="1645920"/>
            <a:ext cx="3657600" cy="164592"/>
          </a:xfrm>
          <a:prstGeom prst="rect">
            <a:avLst/>
          </a:prstGeom>
          <a:solidFill>
            <a:srgbClr val="7B6CE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0" y="181051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1920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Manager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12480" y="242316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or multi-warehouse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POs, GRNs, manifests, reports, staff management.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3657600" cy="164592"/>
          </a:xfrm>
          <a:prstGeom prst="rect">
            <a:avLst/>
          </a:prstGeom>
          <a:solidFill>
            <a:srgbClr val="2DBE85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418795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297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Staff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8006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Bin-level operations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Putaway, cycle count, bin transfers, stock adjustments.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43400" y="4023360"/>
            <a:ext cx="3657600" cy="164592"/>
          </a:xfrm>
          <a:prstGeom prst="rect">
            <a:avLst/>
          </a:prstGeom>
          <a:solidFill>
            <a:srgbClr val="FF5470"/>
          </a:solidFill>
          <a:ln/>
        </p:spPr>
      </p:sp>
      <p:sp>
        <p:nvSpPr>
          <p:cNvPr id="23" name="Shape 21"/>
          <p:cNvSpPr/>
          <p:nvPr/>
        </p:nvSpPr>
        <p:spPr>
          <a:xfrm>
            <a:off x="4343400" y="418795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24" name="Text 22"/>
          <p:cNvSpPr/>
          <p:nvPr/>
        </p:nvSpPr>
        <p:spPr>
          <a:xfrm>
            <a:off x="4526280" y="4297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Picker / Packer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26280" y="48006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operations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picking, scan-to-pack, label print, AWB generation.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29600" y="4023360"/>
            <a:ext cx="3657600" cy="16459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7" name="Shape 25"/>
          <p:cNvSpPr/>
          <p:nvPr/>
        </p:nvSpPr>
        <p:spPr>
          <a:xfrm>
            <a:off x="8229600" y="418795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0" y="4297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Gatepass / Returns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412480" y="48006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&amp; reverse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Gatepass creation, RTO intake, return QC, restock.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GlobalSupply Technologies  |  User Training &amp; UAT  |  globalsupply.in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Order Lifecycle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purchase order to delivery — 8 stages, 3 areas, 1 platform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12700">
            <a:solidFill>
              <a:srgbClr val="2C40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37360"/>
            <a:ext cx="1280160" cy="914400"/>
          </a:xfrm>
          <a:prstGeom prst="roundRect">
            <a:avLst>
              <a:gd name="adj" fmla="val 5000"/>
            </a:avLst>
          </a:prstGeom>
          <a:solidFill>
            <a:srgbClr val="243860"/>
          </a:solidFill>
          <a:ln w="25400">
            <a:solidFill>
              <a:srgbClr val="3DBD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37360"/>
            <a:ext cx="1280160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659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 rot="5400000">
            <a:off x="1755648" y="2103120"/>
            <a:ext cx="164592" cy="182880"/>
          </a:xfrm>
          <a:prstGeom prst="rightTriangle">
            <a:avLst/>
          </a:prstGeom>
          <a:solidFill>
            <a:srgbClr val="3DBDA7"/>
          </a:solidFill>
          <a:ln/>
        </p:spPr>
      </p:sp>
      <p:sp>
        <p:nvSpPr>
          <p:cNvPr id="11" name="Shape 9"/>
          <p:cNvSpPr/>
          <p:nvPr/>
        </p:nvSpPr>
        <p:spPr>
          <a:xfrm>
            <a:off x="1920240" y="1737360"/>
            <a:ext cx="1280160" cy="914400"/>
          </a:xfrm>
          <a:prstGeom prst="roundRect">
            <a:avLst>
              <a:gd name="adj" fmla="val 5000"/>
            </a:avLst>
          </a:prstGeom>
          <a:solidFill>
            <a:srgbClr val="243860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20240" y="1737360"/>
            <a:ext cx="1280160" cy="1371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1920240" y="19659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920240" y="23317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Receipt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 rot="5400000">
            <a:off x="3218688" y="2103120"/>
            <a:ext cx="164592" cy="182880"/>
          </a:xfrm>
          <a:prstGeom prst="rightTriangle">
            <a:avLst/>
          </a:prstGeom>
          <a:solidFill>
            <a:srgbClr val="F5A623"/>
          </a:solidFill>
          <a:ln/>
        </p:spPr>
      </p:sp>
      <p:sp>
        <p:nvSpPr>
          <p:cNvPr id="16" name="Shape 14"/>
          <p:cNvSpPr/>
          <p:nvPr/>
        </p:nvSpPr>
        <p:spPr>
          <a:xfrm>
            <a:off x="3383280" y="1737360"/>
            <a:ext cx="1280160" cy="914400"/>
          </a:xfrm>
          <a:prstGeom prst="roundRect">
            <a:avLst>
              <a:gd name="adj" fmla="val 5000"/>
            </a:avLst>
          </a:prstGeom>
          <a:solidFill>
            <a:srgbClr val="243860"/>
          </a:solidFill>
          <a:ln w="25400">
            <a:solidFill>
              <a:srgbClr val="7B6C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83280" y="1737360"/>
            <a:ext cx="1280160" cy="137160"/>
          </a:xfrm>
          <a:prstGeom prst="rect">
            <a:avLst/>
          </a:prstGeom>
          <a:solidFill>
            <a:srgbClr val="7B6CE0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0" y="19659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6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383280" y="23317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Putaway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 rot="5400000">
            <a:off x="4681728" y="2103120"/>
            <a:ext cx="164592" cy="182880"/>
          </a:xfrm>
          <a:prstGeom prst="rightTriangle">
            <a:avLst/>
          </a:prstGeom>
          <a:solidFill>
            <a:srgbClr val="7B6CE0"/>
          </a:solidFill>
          <a:ln/>
        </p:spPr>
      </p:sp>
      <p:sp>
        <p:nvSpPr>
          <p:cNvPr id="21" name="Shape 19"/>
          <p:cNvSpPr/>
          <p:nvPr/>
        </p:nvSpPr>
        <p:spPr>
          <a:xfrm>
            <a:off x="4846320" y="1737360"/>
            <a:ext cx="1280160" cy="914400"/>
          </a:xfrm>
          <a:prstGeom prst="roundRect">
            <a:avLst>
              <a:gd name="adj" fmla="val 5000"/>
            </a:avLst>
          </a:prstGeom>
          <a:solidFill>
            <a:srgbClr val="243860"/>
          </a:solidFill>
          <a:ln w="25400">
            <a:solidFill>
              <a:srgbClr val="2DBE8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1737360"/>
            <a:ext cx="1280160" cy="137160"/>
          </a:xfrm>
          <a:prstGeom prst="rect">
            <a:avLst/>
          </a:prstGeom>
          <a:solidFill>
            <a:srgbClr val="2DBE85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19659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B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846320" y="23317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 rot="5400000">
            <a:off x="6144768" y="2103120"/>
            <a:ext cx="164592" cy="182880"/>
          </a:xfrm>
          <a:prstGeom prst="rightTriangle">
            <a:avLst/>
          </a:prstGeom>
          <a:solidFill>
            <a:srgbClr val="2DBE85"/>
          </a:solidFill>
          <a:ln/>
        </p:spPr>
      </p:sp>
      <p:sp>
        <p:nvSpPr>
          <p:cNvPr id="26" name="Shape 24"/>
          <p:cNvSpPr/>
          <p:nvPr/>
        </p:nvSpPr>
        <p:spPr>
          <a:xfrm>
            <a:off x="6309360" y="1737360"/>
            <a:ext cx="1280160" cy="914400"/>
          </a:xfrm>
          <a:prstGeom prst="roundRect">
            <a:avLst>
              <a:gd name="adj" fmla="val 5000"/>
            </a:avLst>
          </a:prstGeom>
          <a:solidFill>
            <a:srgbClr val="243860"/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09360" y="1737360"/>
            <a:ext cx="1280160" cy="13716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19659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309360" y="23317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Picking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 rot="5400000">
            <a:off x="7607808" y="2103120"/>
            <a:ext cx="164592" cy="182880"/>
          </a:xfrm>
          <a:prstGeom prst="rightTriangle">
            <a:avLst/>
          </a:prstGeom>
          <a:solidFill>
            <a:srgbClr val="EC4899"/>
          </a:solidFill>
          <a:ln/>
        </p:spPr>
      </p:sp>
      <p:sp>
        <p:nvSpPr>
          <p:cNvPr id="31" name="Shape 29"/>
          <p:cNvSpPr/>
          <p:nvPr/>
        </p:nvSpPr>
        <p:spPr>
          <a:xfrm>
            <a:off x="7772400" y="1737360"/>
            <a:ext cx="1280160" cy="914400"/>
          </a:xfrm>
          <a:prstGeom prst="roundRect">
            <a:avLst>
              <a:gd name="adj" fmla="val 5000"/>
            </a:avLst>
          </a:prstGeom>
          <a:solidFill>
            <a:srgbClr val="243860"/>
          </a:solidFill>
          <a:ln w="25400">
            <a:solidFill>
              <a:srgbClr val="3DBDA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72400" y="1737360"/>
            <a:ext cx="1280160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0" y="19659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PCK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772400" y="23317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Packing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 rot="5400000">
            <a:off x="9070848" y="2103120"/>
            <a:ext cx="164592" cy="182880"/>
          </a:xfrm>
          <a:prstGeom prst="rightTriangle">
            <a:avLst/>
          </a:prstGeom>
          <a:solidFill>
            <a:srgbClr val="3DBDA7"/>
          </a:solidFill>
          <a:ln/>
        </p:spPr>
      </p:sp>
      <p:sp>
        <p:nvSpPr>
          <p:cNvPr id="36" name="Shape 34"/>
          <p:cNvSpPr/>
          <p:nvPr/>
        </p:nvSpPr>
        <p:spPr>
          <a:xfrm>
            <a:off x="9235440" y="1737360"/>
            <a:ext cx="1280160" cy="914400"/>
          </a:xfrm>
          <a:prstGeom prst="roundRect">
            <a:avLst>
              <a:gd name="adj" fmla="val 5000"/>
            </a:avLst>
          </a:prstGeom>
          <a:solidFill>
            <a:srgbClr val="243860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35440" y="1737360"/>
            <a:ext cx="1280160" cy="1371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8" name="Text 36"/>
          <p:cNvSpPr/>
          <p:nvPr/>
        </p:nvSpPr>
        <p:spPr>
          <a:xfrm>
            <a:off x="9235440" y="19659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235440" y="23317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(AWB)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 rot="5400000">
            <a:off x="10533888" y="2103120"/>
            <a:ext cx="164592" cy="182880"/>
          </a:xfrm>
          <a:prstGeom prst="rightTriangle">
            <a:avLst/>
          </a:prstGeom>
          <a:solidFill>
            <a:srgbClr val="F5A623"/>
          </a:solidFill>
          <a:ln/>
        </p:spPr>
      </p:sp>
      <p:sp>
        <p:nvSpPr>
          <p:cNvPr id="41" name="Shape 39"/>
          <p:cNvSpPr/>
          <p:nvPr/>
        </p:nvSpPr>
        <p:spPr>
          <a:xfrm>
            <a:off x="10698480" y="1737360"/>
            <a:ext cx="1280160" cy="914400"/>
          </a:xfrm>
          <a:prstGeom prst="roundRect">
            <a:avLst>
              <a:gd name="adj" fmla="val 5000"/>
            </a:avLst>
          </a:prstGeom>
          <a:solidFill>
            <a:srgbClr val="243860"/>
          </a:solidFill>
          <a:ln w="25400">
            <a:solidFill>
              <a:srgbClr val="7B6C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698480" y="1737360"/>
            <a:ext cx="1280160" cy="137160"/>
          </a:xfrm>
          <a:prstGeom prst="rect">
            <a:avLst/>
          </a:prstGeom>
          <a:solidFill>
            <a:srgbClr val="7B6CE0"/>
          </a:solidFill>
          <a:ln/>
        </p:spPr>
      </p:sp>
      <p:sp>
        <p:nvSpPr>
          <p:cNvPr id="43" name="Text 41"/>
          <p:cNvSpPr/>
          <p:nvPr/>
        </p:nvSpPr>
        <p:spPr>
          <a:xfrm>
            <a:off x="10698480" y="19659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6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0698480" y="23317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" y="3200400"/>
            <a:ext cx="3657600" cy="914400"/>
          </a:xfrm>
          <a:prstGeom prst="roundRect">
            <a:avLst>
              <a:gd name="adj" fmla="val 5000"/>
            </a:avLst>
          </a:prstGeom>
          <a:solidFill>
            <a:srgbClr val="243860"/>
          </a:solidFill>
          <a:ln w="25400">
            <a:solidFill>
              <a:srgbClr val="3DBDA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" y="3520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→ GRN → Putaway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 stock from suppliers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251960" y="3200400"/>
            <a:ext cx="3657600" cy="914400"/>
          </a:xfrm>
          <a:prstGeom prst="roundRect">
            <a:avLst>
              <a:gd name="adj" fmla="val 5000"/>
            </a:avLst>
          </a:prstGeom>
          <a:solidFill>
            <a:srgbClr val="243860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51960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251960" y="3520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→ Wave → Pack → Ship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Fulfilling customer orders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046720" y="3200400"/>
            <a:ext cx="3657600" cy="914400"/>
          </a:xfrm>
          <a:prstGeom prst="roundRect">
            <a:avLst>
              <a:gd name="adj" fmla="val 5000"/>
            </a:avLst>
          </a:prstGeom>
          <a:solidFill>
            <a:srgbClr val="243860"/>
          </a:solidFill>
          <a:ln w="25400">
            <a:solidFill>
              <a:srgbClr val="7B6CE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046720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6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046720" y="3520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→ Dispatch → Deliver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Hand-off to courier + tracking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57200" y="44805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success looks like: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457200" y="4937760"/>
            <a:ext cx="269748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6" name="Text 54"/>
          <p:cNvSpPr/>
          <p:nvPr/>
        </p:nvSpPr>
        <p:spPr>
          <a:xfrm>
            <a:off x="457200" y="50292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200" dirty="0"/>
          </a:p>
        </p:txBody>
      </p:sp>
      <p:sp>
        <p:nvSpPr>
          <p:cNvPr id="57" name="Text 55"/>
          <p:cNvSpPr/>
          <p:nvPr/>
        </p:nvSpPr>
        <p:spPr>
          <a:xfrm>
            <a:off x="457200" y="56692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fulfillment errors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291840" y="4937760"/>
            <a:ext cx="2697480" cy="45720"/>
          </a:xfrm>
          <a:prstGeom prst="rect">
            <a:avLst/>
          </a:prstGeom>
          <a:solidFill>
            <a:srgbClr val="7B6CE0"/>
          </a:solidFill>
          <a:ln/>
        </p:spPr>
      </p:sp>
      <p:sp>
        <p:nvSpPr>
          <p:cNvPr id="59" name="Text 57"/>
          <p:cNvSpPr/>
          <p:nvPr/>
        </p:nvSpPr>
        <p:spPr>
          <a:xfrm>
            <a:off x="3291840" y="50292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B6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3200" dirty="0"/>
          </a:p>
        </p:txBody>
      </p:sp>
      <p:sp>
        <p:nvSpPr>
          <p:cNvPr id="60" name="Text 58"/>
          <p:cNvSpPr/>
          <p:nvPr/>
        </p:nvSpPr>
        <p:spPr>
          <a:xfrm>
            <a:off x="3291840" y="56692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picklist processing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126480" y="4937760"/>
            <a:ext cx="2697480" cy="45720"/>
          </a:xfrm>
          <a:prstGeom prst="rect">
            <a:avLst/>
          </a:prstGeom>
          <a:solidFill>
            <a:srgbClr val="2DBE85"/>
          </a:solidFill>
          <a:ln/>
        </p:spPr>
      </p:sp>
      <p:sp>
        <p:nvSpPr>
          <p:cNvPr id="62" name="Text 60"/>
          <p:cNvSpPr/>
          <p:nvPr/>
        </p:nvSpPr>
        <p:spPr>
          <a:xfrm>
            <a:off x="6126480" y="50292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B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3200" dirty="0"/>
          </a:p>
        </p:txBody>
      </p:sp>
      <p:sp>
        <p:nvSpPr>
          <p:cNvPr id="63" name="Text 61"/>
          <p:cNvSpPr/>
          <p:nvPr/>
        </p:nvSpPr>
        <p:spPr>
          <a:xfrm>
            <a:off x="6126480" y="56692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accuracy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8961120" y="4937760"/>
            <a:ext cx="2697480" cy="4572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65" name="Text 63"/>
          <p:cNvSpPr/>
          <p:nvPr/>
        </p:nvSpPr>
        <p:spPr>
          <a:xfrm>
            <a:off x="8961120" y="50292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</a:t>
            </a:r>
            <a:endParaRPr lang="en-US" sz="3200" dirty="0"/>
          </a:p>
        </p:txBody>
      </p:sp>
      <p:sp>
        <p:nvSpPr>
          <p:cNvPr id="66" name="Text 64"/>
          <p:cNvSpPr/>
          <p:nvPr/>
        </p:nvSpPr>
        <p:spPr>
          <a:xfrm>
            <a:off x="8961120" y="56692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go-live time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GlobalSupply Technologies  |  User Training &amp; UAT  |  globalsupply.in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Process — PO to Stock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stages from supplier purchase order to bin location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12700">
            <a:solidFill>
              <a:srgbClr val="2C40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37360"/>
            <a:ext cx="2194560" cy="731520"/>
          </a:xfrm>
          <a:prstGeom prst="roundRect">
            <a:avLst>
              <a:gd name="adj" fmla="val 6250"/>
            </a:avLst>
          </a:prstGeom>
          <a:solidFill>
            <a:srgbClr val="243860"/>
          </a:solidFill>
          <a:ln w="25400">
            <a:solidFill>
              <a:srgbClr val="3DBD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37360"/>
            <a:ext cx="2194560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202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rot="5400000">
            <a:off x="2670048" y="2011680"/>
            <a:ext cx="118872" cy="182880"/>
          </a:xfrm>
          <a:prstGeom prst="rightTriangle">
            <a:avLst/>
          </a:prstGeom>
          <a:solidFill>
            <a:srgbClr val="3DBDA7"/>
          </a:solidFill>
          <a:ln/>
        </p:spPr>
      </p:sp>
      <p:sp>
        <p:nvSpPr>
          <p:cNvPr id="11" name="Shape 9"/>
          <p:cNvSpPr/>
          <p:nvPr/>
        </p:nvSpPr>
        <p:spPr>
          <a:xfrm>
            <a:off x="2788920" y="1737360"/>
            <a:ext cx="2194560" cy="731520"/>
          </a:xfrm>
          <a:prstGeom prst="roundRect">
            <a:avLst>
              <a:gd name="adj" fmla="val 6250"/>
            </a:avLst>
          </a:prstGeom>
          <a:solidFill>
            <a:srgbClr val="243860"/>
          </a:solidFill>
          <a:ln w="25400">
            <a:solidFill>
              <a:srgbClr val="3DBDA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88920" y="1737360"/>
            <a:ext cx="2194560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13" name="Text 11"/>
          <p:cNvSpPr/>
          <p:nvPr/>
        </p:nvSpPr>
        <p:spPr>
          <a:xfrm>
            <a:off x="2788920" y="19202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880360" y="2148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ASN (Advance Ship Notice)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 rot="5400000">
            <a:off x="5001768" y="2011680"/>
            <a:ext cx="118872" cy="182880"/>
          </a:xfrm>
          <a:prstGeom prst="rightTriangle">
            <a:avLst/>
          </a:prstGeom>
          <a:solidFill>
            <a:srgbClr val="3DBDA7"/>
          </a:solidFill>
          <a:ln/>
        </p:spPr>
      </p:sp>
      <p:sp>
        <p:nvSpPr>
          <p:cNvPr id="16" name="Shape 14"/>
          <p:cNvSpPr/>
          <p:nvPr/>
        </p:nvSpPr>
        <p:spPr>
          <a:xfrm>
            <a:off x="5120640" y="1737360"/>
            <a:ext cx="2194560" cy="731520"/>
          </a:xfrm>
          <a:prstGeom prst="roundRect">
            <a:avLst>
              <a:gd name="adj" fmla="val 6250"/>
            </a:avLst>
          </a:prstGeom>
          <a:solidFill>
            <a:srgbClr val="243860"/>
          </a:solidFill>
          <a:ln w="25400">
            <a:solidFill>
              <a:srgbClr val="3DBDA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1737360"/>
            <a:ext cx="2194560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0" y="19202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212080" y="2148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Receipt Note (GRN)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 rot="5400000">
            <a:off x="7333488" y="2011680"/>
            <a:ext cx="118872" cy="182880"/>
          </a:xfrm>
          <a:prstGeom prst="rightTriangle">
            <a:avLst/>
          </a:prstGeom>
          <a:solidFill>
            <a:srgbClr val="3DBDA7"/>
          </a:solidFill>
          <a:ln/>
        </p:spPr>
      </p:sp>
      <p:sp>
        <p:nvSpPr>
          <p:cNvPr id="21" name="Shape 19"/>
          <p:cNvSpPr/>
          <p:nvPr/>
        </p:nvSpPr>
        <p:spPr>
          <a:xfrm>
            <a:off x="7452360" y="1737360"/>
            <a:ext cx="2194560" cy="731520"/>
          </a:xfrm>
          <a:prstGeom prst="roundRect">
            <a:avLst>
              <a:gd name="adj" fmla="val 6250"/>
            </a:avLst>
          </a:prstGeom>
          <a:solidFill>
            <a:srgbClr val="243860"/>
          </a:solidFill>
          <a:ln w="25400">
            <a:solidFill>
              <a:srgbClr val="3DBDA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52360" y="1737360"/>
            <a:ext cx="2194560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23" name="Text 21"/>
          <p:cNvSpPr/>
          <p:nvPr/>
        </p:nvSpPr>
        <p:spPr>
          <a:xfrm>
            <a:off x="7452360" y="19202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543800" y="2148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 (QC)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 rot="5400000">
            <a:off x="9665208" y="2011680"/>
            <a:ext cx="118872" cy="182880"/>
          </a:xfrm>
          <a:prstGeom prst="rightTriangle">
            <a:avLst/>
          </a:prstGeom>
          <a:solidFill>
            <a:srgbClr val="3DBDA7"/>
          </a:solidFill>
          <a:ln/>
        </p:spPr>
      </p:sp>
      <p:sp>
        <p:nvSpPr>
          <p:cNvPr id="26" name="Shape 24"/>
          <p:cNvSpPr/>
          <p:nvPr/>
        </p:nvSpPr>
        <p:spPr>
          <a:xfrm>
            <a:off x="9784080" y="1737360"/>
            <a:ext cx="2194560" cy="731520"/>
          </a:xfrm>
          <a:prstGeom prst="roundRect">
            <a:avLst>
              <a:gd name="adj" fmla="val 6250"/>
            </a:avLst>
          </a:prstGeom>
          <a:solidFill>
            <a:srgbClr val="243860"/>
          </a:solidFill>
          <a:ln w="25400">
            <a:solidFill>
              <a:srgbClr val="3DBDA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84080" y="1737360"/>
            <a:ext cx="2194560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28" name="Text 26"/>
          <p:cNvSpPr/>
          <p:nvPr/>
        </p:nvSpPr>
        <p:spPr>
          <a:xfrm>
            <a:off x="9784080" y="19202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875520" y="2148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Putaway to Bin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2743200"/>
            <a:ext cx="137160" cy="31089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1" name="Shape 29"/>
          <p:cNvSpPr/>
          <p:nvPr/>
        </p:nvSpPr>
        <p:spPr>
          <a:xfrm>
            <a:off x="594360" y="2743200"/>
            <a:ext cx="2057400" cy="3108960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1520" y="3246120"/>
            <a:ext cx="1828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 PO in Purchase Orders tab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supplier, SKU, qty, expected date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Status: DRAFT → APPROVED → ISSUED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Triggers ASN from supplier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88920" y="2743200"/>
            <a:ext cx="137160" cy="31089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5" name="Shape 33"/>
          <p:cNvSpPr/>
          <p:nvPr/>
        </p:nvSpPr>
        <p:spPr>
          <a:xfrm>
            <a:off x="2926080" y="2743200"/>
            <a:ext cx="2057400" cy="3108960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36" name="Text 34"/>
          <p:cNvSpPr/>
          <p:nvPr/>
        </p:nvSpPr>
        <p:spPr>
          <a:xfrm>
            <a:off x="306324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063240" y="3246120"/>
            <a:ext cx="1828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Supplier ships &amp; uploads ASN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ASN shows expected arrival date, items, qty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Visible in Inbound → ASN tab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Helps pre-plan receiving capacity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120640" y="2743200"/>
            <a:ext cx="137160" cy="3108960"/>
          </a:xfrm>
          <a:prstGeom prst="rect">
            <a:avLst/>
          </a:prstGeom>
          <a:solidFill>
            <a:srgbClr val="7B6CE0"/>
          </a:solidFill>
          <a:ln/>
        </p:spPr>
      </p:sp>
      <p:sp>
        <p:nvSpPr>
          <p:cNvPr id="39" name="Shape 37"/>
          <p:cNvSpPr/>
          <p:nvPr/>
        </p:nvSpPr>
        <p:spPr>
          <a:xfrm>
            <a:off x="5257800" y="2743200"/>
            <a:ext cx="2057400" cy="3108960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40" name="Text 38"/>
          <p:cNvSpPr/>
          <p:nvPr/>
        </p:nvSpPr>
        <p:spPr>
          <a:xfrm>
            <a:off x="539496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6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GRN + Scan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394960" y="3246120"/>
            <a:ext cx="1828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Truck arrives → create GRN from PO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Scan each SKU, capture batch, MRP, expiry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Vendor invoice no. for GST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Supports overshipment (receive &gt; PO qty)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Status: DRAFT → RECEIVING → RECEIVED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452360" y="2743200"/>
            <a:ext cx="137160" cy="3108960"/>
          </a:xfrm>
          <a:prstGeom prst="rect">
            <a:avLst/>
          </a:prstGeom>
          <a:solidFill>
            <a:srgbClr val="2DBE85"/>
          </a:solidFill>
          <a:ln/>
        </p:spPr>
      </p:sp>
      <p:sp>
        <p:nvSpPr>
          <p:cNvPr id="43" name="Shape 41"/>
          <p:cNvSpPr/>
          <p:nvPr/>
        </p:nvSpPr>
        <p:spPr>
          <a:xfrm>
            <a:off x="7589520" y="2743200"/>
            <a:ext cx="2057400" cy="3108960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44" name="Text 42"/>
          <p:cNvSpPr/>
          <p:nvPr/>
        </p:nvSpPr>
        <p:spPr>
          <a:xfrm>
            <a:off x="772668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B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726680" y="3246120"/>
            <a:ext cx="1828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Per-item QC: PASS or FAIL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Accept/reject quantities separately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Rejected qty tracked, not moved to stock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 → QC_PASSED or QC_FAILED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9784080" y="2743200"/>
            <a:ext cx="137160" cy="3108960"/>
          </a:xfrm>
          <a:prstGeom prst="rect">
            <a:avLst/>
          </a:prstGeom>
          <a:solidFill>
            <a:srgbClr val="FF5470"/>
          </a:solidFill>
          <a:ln/>
        </p:spPr>
      </p:sp>
      <p:sp>
        <p:nvSpPr>
          <p:cNvPr id="47" name="Shape 45"/>
          <p:cNvSpPr/>
          <p:nvPr/>
        </p:nvSpPr>
        <p:spPr>
          <a:xfrm>
            <a:off x="9921240" y="2743200"/>
            <a:ext cx="2057400" cy="3108960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48" name="Text 46"/>
          <p:cNvSpPr/>
          <p:nvPr/>
        </p:nvSpPr>
        <p:spPr>
          <a:xfrm>
            <a:off x="1005840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Putaway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0058400" y="3246120"/>
            <a:ext cx="1828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Approved qty flows to GRN-RECEIVED bin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Auto-creates putaway task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Directed putaway suggests optimal bin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Atomic transaction prevents stock loss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Inventory reflects in real-time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flow:  PO[DRAFT] → PO[APPROVED] → ASN[RECEIVING] → GRN[RECEIVING] → GRN[QC_PASSED] → Putaway[IN_PROGRESS] → Putaway[COMPLETED]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GlobalSupply Technologies  |  User Training &amp; UAT  |  globalsupply.in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— GRN Detail Screen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receive goods: scan items, capture batch, mark QC, approve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12700">
            <a:solidFill>
              <a:srgbClr val="2C40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7772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45920"/>
            <a:ext cx="7772400" cy="45720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91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GRN Detail — GRN-2024-0042  •  PO-2024-001  •  Status: RECEIVING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7589520" cy="365760"/>
          </a:xfrm>
          <a:prstGeom prst="rect">
            <a:avLst/>
          </a:prstGeom>
          <a:solidFill>
            <a:srgbClr val="F5F7FB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31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SKU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45920" y="2331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0" y="2331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0" y="2331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37760" y="2331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35040" y="2331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132320" y="2331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26974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SHK-BLK-9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645920" y="26974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Shoes (9)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0" y="26974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40480" y="26974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37760" y="26974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B-2024-A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35040" y="26974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2999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132320" y="26974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3063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SHK-WHT-8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645920" y="3063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Shoes (8)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0" y="3063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40480" y="3063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37760" y="3063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B-2024-B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35040" y="3063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2999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132320" y="3063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3429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TEE-RED-M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645920" y="3429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Tee (M)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43200" y="3429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840480" y="3429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937760" y="3429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B-2024-C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035040" y="3429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599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132320" y="3429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Fail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40080" y="4023360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2DBE85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40233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GRN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011680" y="4023360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FF5470"/>
          </a:solidFill>
          <a:ln/>
        </p:spPr>
      </p:sp>
      <p:sp>
        <p:nvSpPr>
          <p:cNvPr id="41" name="Text 39"/>
          <p:cNvSpPr/>
          <p:nvPr/>
        </p:nvSpPr>
        <p:spPr>
          <a:xfrm>
            <a:off x="2011680" y="40233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GRN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383280" y="402336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3DBDA7"/>
          </a:solidFill>
          <a:ln/>
        </p:spPr>
      </p:sp>
      <p:sp>
        <p:nvSpPr>
          <p:cNvPr id="43" name="Text 41"/>
          <p:cNvSpPr/>
          <p:nvPr/>
        </p:nvSpPr>
        <p:spPr>
          <a:xfrm>
            <a:off x="3383280" y="40233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Receive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008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Notes: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0080" y="4937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invoice: INV-2024-118  •  Truck arrived 09:30  •  2 boxes damaged in transit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40080" y="5212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failed for TEE-RED-M: 2 units have stains. Returned to supplier.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40080" y="5577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Trail: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40080" y="5852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09:30  GRN created by Ravi  •  09:35  First scan: SHK-BLK-9  •  09:42  QC marked  •  09:50  Approved by Manager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8412480" y="1645920"/>
            <a:ext cx="3291840" cy="4572000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50" name="Shape 48"/>
          <p:cNvSpPr/>
          <p:nvPr/>
        </p:nvSpPr>
        <p:spPr>
          <a:xfrm>
            <a:off x="8412480" y="1645920"/>
            <a:ext cx="3291840" cy="1371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1" name="Text 49"/>
          <p:cNvSpPr/>
          <p:nvPr/>
        </p:nvSpPr>
        <p:spPr>
          <a:xfrm>
            <a:off x="8595360" y="1828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Actions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8595360" y="2286000"/>
            <a:ext cx="2926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Scan each SKU into Received qty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Enter batch no. and MRP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Mark QC Pass or Fail per item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Add note if any damage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Click Approve GRN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Putaway tasks auto-created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Inventory updates in real time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GlobalSupply Technologies  |  User Training &amp; UAT  |  globalsupply.in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Process — Order to Dispatch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stages from customer order to courier handover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12700">
            <a:solidFill>
              <a:srgbClr val="2C40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3657600" cy="164592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81051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20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Order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marketplace or manual. FEFO soft reservation.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1645920"/>
            <a:ext cx="3657600" cy="1645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Shape 9"/>
          <p:cNvSpPr/>
          <p:nvPr/>
        </p:nvSpPr>
        <p:spPr>
          <a:xfrm>
            <a:off x="4343400" y="181051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920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Wave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6280" y="242316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20-30 orders for batch pick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0" y="1645920"/>
            <a:ext cx="3657600" cy="164592"/>
          </a:xfrm>
          <a:prstGeom prst="rect">
            <a:avLst/>
          </a:prstGeom>
          <a:solidFill>
            <a:srgbClr val="7B6CE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0" y="181051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1920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Picking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12480" y="242316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Picker walks path, scans each SKU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3657600" cy="164592"/>
          </a:xfrm>
          <a:prstGeom prst="rect">
            <a:avLst/>
          </a:prstGeom>
          <a:solidFill>
            <a:srgbClr val="2DBE85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418795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297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Packing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8006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items, pack, generate label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43400" y="4023360"/>
            <a:ext cx="3657600" cy="164592"/>
          </a:xfrm>
          <a:prstGeom prst="rect">
            <a:avLst/>
          </a:prstGeom>
          <a:solidFill>
            <a:srgbClr val="FF5470"/>
          </a:solidFill>
          <a:ln/>
        </p:spPr>
      </p:sp>
      <p:sp>
        <p:nvSpPr>
          <p:cNvPr id="23" name="Shape 21"/>
          <p:cNvSpPr/>
          <p:nvPr/>
        </p:nvSpPr>
        <p:spPr>
          <a:xfrm>
            <a:off x="4343400" y="418795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24" name="Text 22"/>
          <p:cNvSpPr/>
          <p:nvPr/>
        </p:nvSpPr>
        <p:spPr>
          <a:xfrm>
            <a:off x="4526280" y="4297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AWB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26280" y="48006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tracking with courier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29600" y="4023360"/>
            <a:ext cx="3657600" cy="16459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7" name="Shape 25"/>
          <p:cNvSpPr/>
          <p:nvPr/>
        </p:nvSpPr>
        <p:spPr>
          <a:xfrm>
            <a:off x="8229600" y="418795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0" y="4297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Dispatch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412480" y="48006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close, hand to courier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GlobalSupply Technologies  |  User Training &amp; UAT  |  globalsupply.in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— Wave Picking Screen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orders, scan to pick, track progress per SKU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12700">
            <a:solidFill>
              <a:srgbClr val="2C40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7772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45920"/>
            <a:ext cx="7772400" cy="45720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91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 •  IN_PROGRESS  •  3 orders  •  Mumbai Central Hub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1828800" cy="3657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MAN-MQ2K1GDE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68880" y="2194560"/>
            <a:ext cx="1828800" cy="365760"/>
          </a:xfrm>
          <a:prstGeom prst="rect">
            <a:avLst/>
          </a:prstGeom>
          <a:solidFill>
            <a:srgbClr val="F5F7FB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MAN-MQ3K5GDE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89120" y="2194560"/>
            <a:ext cx="1828800" cy="365760"/>
          </a:xfrm>
          <a:prstGeom prst="rect">
            <a:avLst/>
          </a:prstGeom>
          <a:solidFill>
            <a:srgbClr val="F5F7FB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MAN-MQ4K7GDE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2743200"/>
            <a:ext cx="5486400" cy="457200"/>
          </a:xfrm>
          <a:prstGeom prst="rect">
            <a:avLst/>
          </a:prstGeom>
          <a:solidFill>
            <a:srgbClr val="F5F7FB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7889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Scan SKU barcode to verify...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2743200"/>
            <a:ext cx="1371600" cy="45720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2743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383280"/>
            <a:ext cx="7589520" cy="27432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383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194560" y="3383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749040" y="3383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Qty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03520" y="3383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58000" y="3383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3703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SHK-BLK-9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194560" y="3703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Running Shoes (9)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749040" y="3703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03520" y="3703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58000" y="3703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1/2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" y="40233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TEE-RED-M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194560" y="40233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Tee (M)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749040" y="40233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03520" y="40233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858000" y="40233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" y="4572000"/>
            <a:ext cx="3200400" cy="457200"/>
          </a:xfrm>
          <a:prstGeom prst="roundRect">
            <a:avLst>
              <a:gd name="adj" fmla="val 10000"/>
            </a:avLst>
          </a:prstGeom>
          <a:solidFill>
            <a:srgbClr val="F5A623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4572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with Short Pick (1 remaining)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412480" y="1645920"/>
            <a:ext cx="3291840" cy="4572000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38" name="Shape 36"/>
          <p:cNvSpPr/>
          <p:nvPr/>
        </p:nvSpPr>
        <p:spPr>
          <a:xfrm>
            <a:off x="8412480" y="1645920"/>
            <a:ext cx="3291840" cy="137160"/>
          </a:xfrm>
          <a:prstGeom prst="rect">
            <a:avLst/>
          </a:prstGeom>
          <a:solidFill>
            <a:srgbClr val="7B6CE0"/>
          </a:solidFill>
          <a:ln/>
        </p:spPr>
      </p:sp>
      <p:sp>
        <p:nvSpPr>
          <p:cNvPr id="39" name="Text 37"/>
          <p:cNvSpPr/>
          <p:nvPr/>
        </p:nvSpPr>
        <p:spPr>
          <a:xfrm>
            <a:off x="8595360" y="1828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6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Wave Picking Works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595360" y="2286000"/>
            <a:ext cx="2926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Create wave from 20-30 orders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Start wave → status IN_PROGRESS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Picker scans each SKU in turn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System tracks scanned vs ordered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Partial scans flagged in amber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Option to process with short pick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All items picked → move to PACKING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Order status auto-updates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GlobalSupply Technologies  |  User Training &amp; UAT  |  globalsupply.in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— Packing Station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items, pack, generate invoice + label, generate AWB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12700">
            <a:solidFill>
              <a:srgbClr val="2C40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7772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45920"/>
            <a:ext cx="7772400" cy="45720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91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Packing Station  •  Order #MAN-MQ2K1GDE  •  Guest Billing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Items: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B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SHK-BLK-9  Black Running Shoes (9)         Qty: 2        [✓ 2/2 Packed]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2880360"/>
            <a:ext cx="5943600" cy="457200"/>
          </a:xfrm>
          <a:prstGeom prst="rect">
            <a:avLst/>
          </a:prstGeom>
          <a:solidFill>
            <a:srgbClr val="F5F7FB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260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SKU to pack...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75120" y="2880360"/>
            <a:ext cx="1371600" cy="45720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28803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520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Packing Log: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794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21:52:30   SHK-BLK-9   ✓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21:52:34   SHK-BLK-9   ✓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3520440"/>
            <a:ext cx="2560320" cy="2286000"/>
          </a:xfrm>
          <a:prstGeom prst="rect">
            <a:avLst/>
          </a:prstGeom>
          <a:solidFill>
            <a:srgbClr val="F5F7FB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3611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Pre-Shipment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3931920"/>
            <a:ext cx="2377440" cy="3657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20" name="Text 18"/>
          <p:cNvSpPr/>
          <p:nvPr/>
        </p:nvSpPr>
        <p:spPr>
          <a:xfrm>
            <a:off x="5577840" y="3931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Download Invoice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577840" y="4389120"/>
            <a:ext cx="2377440" cy="365760"/>
          </a:xfrm>
          <a:prstGeom prst="rect">
            <a:avLst/>
          </a:prstGeom>
          <a:solidFill>
            <a:srgbClr val="7B6CE0"/>
          </a:solidFill>
          <a:ln/>
        </p:spPr>
      </p:sp>
      <p:sp>
        <p:nvSpPr>
          <p:cNvPr id="22" name="Text 20"/>
          <p:cNvSpPr/>
          <p:nvPr/>
        </p:nvSpPr>
        <p:spPr>
          <a:xfrm>
            <a:off x="5577840" y="4389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 Generate AWB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577840" y="4846320"/>
            <a:ext cx="2377440" cy="365760"/>
          </a:xfrm>
          <a:prstGeom prst="rect">
            <a:avLst/>
          </a:prstGeom>
          <a:solidFill>
            <a:srgbClr val="2DBE85"/>
          </a:solidFill>
          <a:ln/>
        </p:spPr>
      </p:sp>
      <p:sp>
        <p:nvSpPr>
          <p:cNvPr id="24" name="Text 22"/>
          <p:cNvSpPr/>
          <p:nvPr/>
        </p:nvSpPr>
        <p:spPr>
          <a:xfrm>
            <a:off x="5577840" y="4846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🖨  Print Label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577840" y="5303520"/>
            <a:ext cx="2377440" cy="3657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6" name="Text 24"/>
          <p:cNvSpPr/>
          <p:nvPr/>
        </p:nvSpPr>
        <p:spPr>
          <a:xfrm>
            <a:off x="5577840" y="5303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Add to Manifest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" y="4526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Packing Summary: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Items: 2   |   Packed: 2   |   Pending: 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412480" y="1645920"/>
            <a:ext cx="3291840" cy="4572000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30" name="Shape 28"/>
          <p:cNvSpPr/>
          <p:nvPr/>
        </p:nvSpPr>
        <p:spPr>
          <a:xfrm>
            <a:off x="8412480" y="1645920"/>
            <a:ext cx="3291840" cy="137160"/>
          </a:xfrm>
          <a:prstGeom prst="rect">
            <a:avLst/>
          </a:prstGeom>
          <a:solidFill>
            <a:srgbClr val="2DBE85"/>
          </a:solidFill>
          <a:ln/>
        </p:spPr>
      </p:sp>
      <p:sp>
        <p:nvSpPr>
          <p:cNvPr id="31" name="Text 29"/>
          <p:cNvSpPr/>
          <p:nvPr/>
        </p:nvSpPr>
        <p:spPr>
          <a:xfrm>
            <a:off x="8595360" y="1828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B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Pack-Ship Workflow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595360" y="2286000"/>
            <a:ext cx="2926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Scan each SKU to verify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System tracks qty per SKU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When all packed: enable AWB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Download GST invoice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Select courier + generate AWB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Print shipping label (Uniware format)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Add to manifest for batch dispatch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Order moves to SHIPPED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GlobalSupply Technologies  |  User Training &amp; UAT  |  globalsupply.in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Controls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Bin-level accuracy, batch/expiry tracking, automated replenishment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12700">
            <a:solidFill>
              <a:srgbClr val="2C40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3657600" cy="164592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81051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20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Multi-Warehouse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stock across 1 to 100+ warehouses. Transfer between facilities with full audit trail.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1645920"/>
            <a:ext cx="3657600" cy="1645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Shape 9"/>
          <p:cNvSpPr/>
          <p:nvPr/>
        </p:nvSpPr>
        <p:spPr>
          <a:xfrm>
            <a:off x="4343400" y="181051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920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Bin-Level Tracking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6280" y="242316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tracked by SKU + EPC code. Real-time qty per bin, per batch, per expiry.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0" y="1645920"/>
            <a:ext cx="3657600" cy="164592"/>
          </a:xfrm>
          <a:prstGeom prst="rect">
            <a:avLst/>
          </a:prstGeom>
          <a:solidFill>
            <a:srgbClr val="7B6CE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0" y="181051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1920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Count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12480" y="242316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count: staff counts, system reconciles, variance report auto-generated.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3657600" cy="164592"/>
          </a:xfrm>
          <a:prstGeom prst="rect">
            <a:avLst/>
          </a:prstGeom>
          <a:solidFill>
            <a:srgbClr val="2DBE85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418795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297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FEFO Expiry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8006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First-Expiry-First-Out picking logic. Critical for F&amp;B, pharma, cosmetics.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43400" y="4023360"/>
            <a:ext cx="3657600" cy="164592"/>
          </a:xfrm>
          <a:prstGeom prst="rect">
            <a:avLst/>
          </a:prstGeom>
          <a:solidFill>
            <a:srgbClr val="FF5470"/>
          </a:solidFill>
          <a:ln/>
        </p:spPr>
      </p:sp>
      <p:sp>
        <p:nvSpPr>
          <p:cNvPr id="23" name="Shape 21"/>
          <p:cNvSpPr/>
          <p:nvPr/>
        </p:nvSpPr>
        <p:spPr>
          <a:xfrm>
            <a:off x="4343400" y="418795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24" name="Text 22"/>
          <p:cNvSpPr/>
          <p:nvPr/>
        </p:nvSpPr>
        <p:spPr>
          <a:xfrm>
            <a:off x="4526280" y="4297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Replenishment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26280" y="48006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Auto-alerts when bin stock drops below reorder point. Generates putaway task. Atomic decrement+increment.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29600" y="4023360"/>
            <a:ext cx="3657600" cy="16459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7" name="Shape 25"/>
          <p:cNvSpPr/>
          <p:nvPr/>
        </p:nvSpPr>
        <p:spPr>
          <a:xfrm>
            <a:off x="8229600" y="418795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0" y="4297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Classification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412480" y="48006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Value-based classification: A=top 80%, B=next 15%, C=last 5%. Drives cycle count and prioritization.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GlobalSupply Technologies  |  User Training &amp; UAT  |  globalsupply.in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&amp; RTO Process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returns and reverse pickup — closed loop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12700">
            <a:solidFill>
              <a:srgbClr val="2C40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37360"/>
            <a:ext cx="2194560" cy="914400"/>
          </a:xfrm>
          <a:prstGeom prst="roundRect">
            <a:avLst>
              <a:gd name="adj" fmla="val 5000"/>
            </a:avLst>
          </a:prstGeom>
          <a:solidFill>
            <a:srgbClr val="243860"/>
          </a:solidFill>
          <a:ln w="25400">
            <a:solidFill>
              <a:srgbClr val="FF54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37360"/>
            <a:ext cx="2194560" cy="137160"/>
          </a:xfrm>
          <a:prstGeom prst="rect">
            <a:avLst/>
          </a:prstGeom>
          <a:solidFill>
            <a:srgbClr val="FF547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20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Created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 rot="5400000">
            <a:off x="2670048" y="2103120"/>
            <a:ext cx="118872" cy="182880"/>
          </a:xfrm>
          <a:prstGeom prst="rightTriangle">
            <a:avLst/>
          </a:prstGeom>
          <a:solidFill>
            <a:srgbClr val="FF5470"/>
          </a:solidFill>
          <a:ln/>
        </p:spPr>
      </p:sp>
      <p:sp>
        <p:nvSpPr>
          <p:cNvPr id="11" name="Shape 9"/>
          <p:cNvSpPr/>
          <p:nvPr/>
        </p:nvSpPr>
        <p:spPr>
          <a:xfrm>
            <a:off x="2788920" y="1737360"/>
            <a:ext cx="2194560" cy="914400"/>
          </a:xfrm>
          <a:prstGeom prst="roundRect">
            <a:avLst>
              <a:gd name="adj" fmla="val 5000"/>
            </a:avLst>
          </a:prstGeom>
          <a:solidFill>
            <a:srgbClr val="243860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88920" y="1737360"/>
            <a:ext cx="2194560" cy="1371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2788920" y="1920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RPU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8892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Pickup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 rot="5400000">
            <a:off x="5001768" y="2103120"/>
            <a:ext cx="118872" cy="182880"/>
          </a:xfrm>
          <a:prstGeom prst="rightTriangle">
            <a:avLst/>
          </a:prstGeom>
          <a:solidFill>
            <a:srgbClr val="F5A623"/>
          </a:solidFill>
          <a:ln/>
        </p:spPr>
      </p:sp>
      <p:sp>
        <p:nvSpPr>
          <p:cNvPr id="16" name="Shape 14"/>
          <p:cNvSpPr/>
          <p:nvPr/>
        </p:nvSpPr>
        <p:spPr>
          <a:xfrm>
            <a:off x="5120640" y="1737360"/>
            <a:ext cx="2194560" cy="914400"/>
          </a:xfrm>
          <a:prstGeom prst="roundRect">
            <a:avLst>
              <a:gd name="adj" fmla="val 5000"/>
            </a:avLst>
          </a:prstGeom>
          <a:solidFill>
            <a:srgbClr val="243860"/>
          </a:solidFill>
          <a:ln w="25400">
            <a:solidFill>
              <a:srgbClr val="7B6C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1737360"/>
            <a:ext cx="2194560" cy="137160"/>
          </a:xfrm>
          <a:prstGeom prst="rect">
            <a:avLst/>
          </a:prstGeom>
          <a:solidFill>
            <a:srgbClr val="7B6CE0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0" y="1920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B6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2064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Intake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 rot="5400000">
            <a:off x="7333488" y="2103120"/>
            <a:ext cx="118872" cy="182880"/>
          </a:xfrm>
          <a:prstGeom prst="rightTriangle">
            <a:avLst/>
          </a:prstGeom>
          <a:solidFill>
            <a:srgbClr val="7B6CE0"/>
          </a:solidFill>
          <a:ln/>
        </p:spPr>
      </p:sp>
      <p:sp>
        <p:nvSpPr>
          <p:cNvPr id="21" name="Shape 19"/>
          <p:cNvSpPr/>
          <p:nvPr/>
        </p:nvSpPr>
        <p:spPr>
          <a:xfrm>
            <a:off x="7452360" y="1737360"/>
            <a:ext cx="2194560" cy="914400"/>
          </a:xfrm>
          <a:prstGeom prst="roundRect">
            <a:avLst>
              <a:gd name="adj" fmla="val 5000"/>
            </a:avLst>
          </a:prstGeom>
          <a:solidFill>
            <a:srgbClr val="243860"/>
          </a:solidFill>
          <a:ln w="25400">
            <a:solidFill>
              <a:srgbClr val="2DBE8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52360" y="1737360"/>
            <a:ext cx="2194560" cy="137160"/>
          </a:xfrm>
          <a:prstGeom prst="rect">
            <a:avLst/>
          </a:prstGeom>
          <a:solidFill>
            <a:srgbClr val="2DBE85"/>
          </a:solidFill>
          <a:ln/>
        </p:spPr>
      </p:sp>
      <p:sp>
        <p:nvSpPr>
          <p:cNvPr id="23" name="Text 21"/>
          <p:cNvSpPr/>
          <p:nvPr/>
        </p:nvSpPr>
        <p:spPr>
          <a:xfrm>
            <a:off x="7452360" y="1920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B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RQC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45236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QC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 rot="5400000">
            <a:off x="9665208" y="2103120"/>
            <a:ext cx="118872" cy="182880"/>
          </a:xfrm>
          <a:prstGeom prst="rightTriangle">
            <a:avLst/>
          </a:prstGeom>
          <a:solidFill>
            <a:srgbClr val="2DBE85"/>
          </a:solidFill>
          <a:ln/>
        </p:spPr>
      </p:sp>
      <p:sp>
        <p:nvSpPr>
          <p:cNvPr id="26" name="Shape 24"/>
          <p:cNvSpPr/>
          <p:nvPr/>
        </p:nvSpPr>
        <p:spPr>
          <a:xfrm>
            <a:off x="9784080" y="1737360"/>
            <a:ext cx="2194560" cy="914400"/>
          </a:xfrm>
          <a:prstGeom prst="roundRect">
            <a:avLst>
              <a:gd name="adj" fmla="val 5000"/>
            </a:avLst>
          </a:prstGeom>
          <a:solidFill>
            <a:srgbClr val="243860"/>
          </a:solidFill>
          <a:ln w="25400">
            <a:solidFill>
              <a:srgbClr val="3DBDA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84080" y="1737360"/>
            <a:ext cx="2194560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28" name="Text 26"/>
          <p:cNvSpPr/>
          <p:nvPr/>
        </p:nvSpPr>
        <p:spPr>
          <a:xfrm>
            <a:off x="9784080" y="1920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78408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Restock / Refund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017520"/>
            <a:ext cx="11247120" cy="3108960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3017520"/>
            <a:ext cx="137160" cy="31089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3200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Return Outcomes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31520" y="3749040"/>
            <a:ext cx="137160" cy="2194560"/>
          </a:xfrm>
          <a:prstGeom prst="rect">
            <a:avLst/>
          </a:prstGeom>
          <a:solidFill>
            <a:srgbClr val="2DBE85"/>
          </a:solidFill>
          <a:ln/>
        </p:spPr>
      </p:sp>
      <p:sp>
        <p:nvSpPr>
          <p:cNvPr id="34" name="Text 32"/>
          <p:cNvSpPr/>
          <p:nvPr/>
        </p:nvSpPr>
        <p:spPr>
          <a:xfrm>
            <a:off x="1005840" y="3840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B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Restock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05840" y="420624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is in original condition → scan to bin, inventory restored, refund issued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434840" y="3749040"/>
            <a:ext cx="137160" cy="2194560"/>
          </a:xfrm>
          <a:prstGeom prst="rect">
            <a:avLst/>
          </a:prstGeom>
          <a:solidFill>
            <a:srgbClr val="FF5470"/>
          </a:solidFill>
          <a:ln/>
        </p:spPr>
      </p:sp>
      <p:sp>
        <p:nvSpPr>
          <p:cNvPr id="37" name="Text 35"/>
          <p:cNvSpPr/>
          <p:nvPr/>
        </p:nvSpPr>
        <p:spPr>
          <a:xfrm>
            <a:off x="4709160" y="3840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Refund Only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709160" y="420624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damaged or used → mark as bad inventory, refund issued, no restock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138160" y="3749040"/>
            <a:ext cx="137160" cy="2194560"/>
          </a:xfrm>
          <a:prstGeom prst="rect">
            <a:avLst/>
          </a:prstGeom>
          <a:solidFill>
            <a:srgbClr val="7B6CE0"/>
          </a:solidFill>
          <a:ln/>
        </p:spPr>
      </p:sp>
      <p:sp>
        <p:nvSpPr>
          <p:cNvPr id="40" name="Text 38"/>
          <p:cNvSpPr/>
          <p:nvPr/>
        </p:nvSpPr>
        <p:spPr>
          <a:xfrm>
            <a:off x="8412480" y="3840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6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Vendor Return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412480" y="420624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Defective batch → create gatepass to send back to supplier, no refund to customer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GlobalSupply Technologies  |  User Training &amp; UAT  |  globalsupply.in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Engine — FEFO &amp; Soft Reservation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inventory allocation with batch-level tracking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12700">
            <a:solidFill>
              <a:srgbClr val="2C40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3657600" cy="164592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81051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20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Reservation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creation reserves inventory (quantityReserved++) without hard deduction. Prevents overselling across channels.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1645920"/>
            <a:ext cx="3657600" cy="1645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Shape 9"/>
          <p:cNvSpPr/>
          <p:nvPr/>
        </p:nvSpPr>
        <p:spPr>
          <a:xfrm>
            <a:off x="4343400" y="181051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920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FEFO Batching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6280" y="242316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Allocates from earliest-expiring batches first. Tracks batchNo and expiryDate on each OrderItem.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0" y="1645920"/>
            <a:ext cx="3657600" cy="164592"/>
          </a:xfrm>
          <a:prstGeom prst="rect">
            <a:avLst/>
          </a:prstGeom>
          <a:solidFill>
            <a:srgbClr val="7B6CE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0" y="181051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1920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Allocation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12480" y="242316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marked ALLOCATED / PARTIAL / UNALLOCATED based on available stock. Supports split fulfillment.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3657600" cy="164592"/>
          </a:xfrm>
          <a:prstGeom prst="rect">
            <a:avLst/>
          </a:prstGeom>
          <a:solidFill>
            <a:srgbClr val="2DBE85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418795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297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Deduction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8006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close does hard deduction: quantityOnHand--, quantityReserved--. Single point of stock commitment.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43400" y="4023360"/>
            <a:ext cx="3657600" cy="164592"/>
          </a:xfrm>
          <a:prstGeom prst="rect">
            <a:avLst/>
          </a:prstGeom>
          <a:solidFill>
            <a:srgbClr val="FF5470"/>
          </a:solidFill>
          <a:ln/>
        </p:spPr>
      </p:sp>
      <p:sp>
        <p:nvSpPr>
          <p:cNvPr id="23" name="Shape 21"/>
          <p:cNvSpPr/>
          <p:nvPr/>
        </p:nvSpPr>
        <p:spPr>
          <a:xfrm>
            <a:off x="4343400" y="418795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24" name="Text 22"/>
          <p:cNvSpPr/>
          <p:nvPr/>
        </p:nvSpPr>
        <p:spPr>
          <a:xfrm>
            <a:off x="4526280" y="4297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Release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26280" y="48006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cancellation releases reservation: quantityReserved--, quantityAvailable++. No phantom stock.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29600" y="4023360"/>
            <a:ext cx="3657600" cy="16459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7" name="Shape 25"/>
          <p:cNvSpPr/>
          <p:nvPr/>
        </p:nvSpPr>
        <p:spPr>
          <a:xfrm>
            <a:off x="8229600" y="418795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0" y="4297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Channel-Aware ATS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412480" y="48006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marketplace gets stock - own buffer - other channels buffers. Prevents cross-channel overselling.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GlobalSupply Technologies  |  User Training &amp; UAT  |  globalsupply.in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Webhooks &amp; NDR Automation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order status sync with auto-NDR and auto-RTO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12700">
            <a:solidFill>
              <a:srgbClr val="2C40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37360"/>
            <a:ext cx="2194560" cy="914400"/>
          </a:xfrm>
          <a:prstGeom prst="roundRect">
            <a:avLst>
              <a:gd name="adj" fmla="val 5000"/>
            </a:avLst>
          </a:prstGeom>
          <a:solidFill>
            <a:srgbClr val="243860"/>
          </a:solidFill>
          <a:ln w="25400">
            <a:solidFill>
              <a:srgbClr val="3DBD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37360"/>
            <a:ext cx="2194560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20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Received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 rot="5400000">
            <a:off x="2670048" y="2103120"/>
            <a:ext cx="118872" cy="182880"/>
          </a:xfrm>
          <a:prstGeom prst="rightTriangle">
            <a:avLst/>
          </a:prstGeom>
          <a:solidFill>
            <a:srgbClr val="3DBDA7"/>
          </a:solidFill>
          <a:ln/>
        </p:spPr>
      </p:sp>
      <p:sp>
        <p:nvSpPr>
          <p:cNvPr id="11" name="Shape 9"/>
          <p:cNvSpPr/>
          <p:nvPr/>
        </p:nvSpPr>
        <p:spPr>
          <a:xfrm>
            <a:off x="2788920" y="1737360"/>
            <a:ext cx="2194560" cy="914400"/>
          </a:xfrm>
          <a:prstGeom prst="roundRect">
            <a:avLst>
              <a:gd name="adj" fmla="val 5000"/>
            </a:avLst>
          </a:prstGeom>
          <a:solidFill>
            <a:srgbClr val="243860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88920" y="1737360"/>
            <a:ext cx="2194560" cy="1371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2788920" y="1920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8892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Mapping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 rot="5400000">
            <a:off x="5001768" y="2103120"/>
            <a:ext cx="118872" cy="182880"/>
          </a:xfrm>
          <a:prstGeom prst="rightTriangle">
            <a:avLst/>
          </a:prstGeom>
          <a:solidFill>
            <a:srgbClr val="F5A623"/>
          </a:solidFill>
          <a:ln/>
        </p:spPr>
      </p:sp>
      <p:sp>
        <p:nvSpPr>
          <p:cNvPr id="16" name="Shape 14"/>
          <p:cNvSpPr/>
          <p:nvPr/>
        </p:nvSpPr>
        <p:spPr>
          <a:xfrm>
            <a:off x="5120640" y="1737360"/>
            <a:ext cx="2194560" cy="914400"/>
          </a:xfrm>
          <a:prstGeom prst="roundRect">
            <a:avLst>
              <a:gd name="adj" fmla="val 5000"/>
            </a:avLst>
          </a:prstGeom>
          <a:solidFill>
            <a:srgbClr val="243860"/>
          </a:solidFill>
          <a:ln w="25400">
            <a:solidFill>
              <a:srgbClr val="7B6C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1737360"/>
            <a:ext cx="2194560" cy="137160"/>
          </a:xfrm>
          <a:prstGeom prst="rect">
            <a:avLst/>
          </a:prstGeom>
          <a:solidFill>
            <a:srgbClr val="7B6CE0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0" y="1920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B6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2064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Auto-NDR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 rot="5400000">
            <a:off x="7333488" y="2103120"/>
            <a:ext cx="118872" cy="182880"/>
          </a:xfrm>
          <a:prstGeom prst="rightTriangle">
            <a:avLst/>
          </a:prstGeom>
          <a:solidFill>
            <a:srgbClr val="7B6CE0"/>
          </a:solidFill>
          <a:ln/>
        </p:spPr>
      </p:sp>
      <p:sp>
        <p:nvSpPr>
          <p:cNvPr id="21" name="Shape 19"/>
          <p:cNvSpPr/>
          <p:nvPr/>
        </p:nvSpPr>
        <p:spPr>
          <a:xfrm>
            <a:off x="7452360" y="1737360"/>
            <a:ext cx="2194560" cy="914400"/>
          </a:xfrm>
          <a:prstGeom prst="roundRect">
            <a:avLst>
              <a:gd name="adj" fmla="val 5000"/>
            </a:avLst>
          </a:prstGeom>
          <a:solidFill>
            <a:srgbClr val="243860"/>
          </a:solidFill>
          <a:ln w="25400">
            <a:solidFill>
              <a:srgbClr val="FF54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52360" y="1737360"/>
            <a:ext cx="2194560" cy="137160"/>
          </a:xfrm>
          <a:prstGeom prst="rect">
            <a:avLst/>
          </a:prstGeom>
          <a:solidFill>
            <a:srgbClr val="FF5470"/>
          </a:solidFill>
          <a:ln/>
        </p:spPr>
      </p:sp>
      <p:sp>
        <p:nvSpPr>
          <p:cNvPr id="23" name="Text 21"/>
          <p:cNvSpPr/>
          <p:nvPr/>
        </p:nvSpPr>
        <p:spPr>
          <a:xfrm>
            <a:off x="7452360" y="1920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45236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Auto-RTO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 rot="5400000">
            <a:off x="9665208" y="2103120"/>
            <a:ext cx="118872" cy="182880"/>
          </a:xfrm>
          <a:prstGeom prst="rightTriangle">
            <a:avLst/>
          </a:prstGeom>
          <a:solidFill>
            <a:srgbClr val="FF5470"/>
          </a:solidFill>
          <a:ln/>
        </p:spPr>
      </p:sp>
      <p:sp>
        <p:nvSpPr>
          <p:cNvPr id="26" name="Shape 24"/>
          <p:cNvSpPr/>
          <p:nvPr/>
        </p:nvSpPr>
        <p:spPr>
          <a:xfrm>
            <a:off x="9784080" y="1737360"/>
            <a:ext cx="2194560" cy="914400"/>
          </a:xfrm>
          <a:prstGeom prst="roundRect">
            <a:avLst>
              <a:gd name="adj" fmla="val 5000"/>
            </a:avLst>
          </a:prstGeom>
          <a:solidFill>
            <a:srgbClr val="243860"/>
          </a:solidFill>
          <a:ln w="25400">
            <a:solidFill>
              <a:srgbClr val="2DBE8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84080" y="1737360"/>
            <a:ext cx="2194560" cy="137160"/>
          </a:xfrm>
          <a:prstGeom prst="rect">
            <a:avLst/>
          </a:prstGeom>
          <a:solidFill>
            <a:srgbClr val="2DBE85"/>
          </a:solidFill>
          <a:ln/>
        </p:spPr>
      </p:sp>
      <p:sp>
        <p:nvSpPr>
          <p:cNvPr id="28" name="Text 26"/>
          <p:cNvSpPr/>
          <p:nvPr/>
        </p:nvSpPr>
        <p:spPr>
          <a:xfrm>
            <a:off x="9784080" y="1920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B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78408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Sync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17520"/>
          <a:ext cx="112471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2286000"/>
                <a:gridCol w="2286000"/>
                <a:gridCol w="25603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Marketplace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Cancelled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 Failed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Flipkart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CANCELLED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RTO_INITIATED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Nykaa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cancelled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delivery_failed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Myntra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Cancelled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TataCliq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cancelled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delivery_failed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1" name="Text 28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GlobalSupply Technologies  |  User Training &amp; UAT  |  globalsupply.in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Intelligence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putaway, auto-wave, QC quarantine, blind cycle count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12700">
            <a:solidFill>
              <a:srgbClr val="2C40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3657600" cy="164592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81051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20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Putaway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/api/putaway/suggest-bin scores bins by zone match (+100), capacity (+50), fill level (-30×pct). Returns top 5 suggestions.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1645920"/>
            <a:ext cx="3657600" cy="1645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Shape 9"/>
          <p:cNvSpPr/>
          <p:nvPr/>
        </p:nvSpPr>
        <p:spPr>
          <a:xfrm>
            <a:off x="4343400" y="181051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920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Auto-Wave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6280" y="242316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/api/waves/auto groups pending orders by carrier. Creates waves automatically. maxOrders defaults to 20.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0" y="1645920"/>
            <a:ext cx="3657600" cy="164592"/>
          </a:xfrm>
          <a:prstGeom prst="rect">
            <a:avLst/>
          </a:prstGeom>
          <a:solidFill>
            <a:srgbClr val="7B6CE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0" y="181051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1920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Quarantine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12480" y="242316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GRN items auto-moved to QUARANTINE bin with quantityAvailable=0. Not allocatable for orders.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3657600" cy="164592"/>
          </a:xfrm>
          <a:prstGeom prst="rect">
            <a:avLst/>
          </a:prstGeom>
          <a:solidFill>
            <a:srgbClr val="2DBE85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418795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297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Cycle Count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8006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blindMode hides expected qty — staff counts without bias. abcFilter selects A/B/C class items only.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43400" y="4023360"/>
            <a:ext cx="3657600" cy="164592"/>
          </a:xfrm>
          <a:prstGeom prst="rect">
            <a:avLst/>
          </a:prstGeom>
          <a:solidFill>
            <a:srgbClr val="FF5470"/>
          </a:solidFill>
          <a:ln/>
        </p:spPr>
      </p:sp>
      <p:sp>
        <p:nvSpPr>
          <p:cNvPr id="23" name="Shape 21"/>
          <p:cNvSpPr/>
          <p:nvPr/>
        </p:nvSpPr>
        <p:spPr>
          <a:xfrm>
            <a:off x="4343400" y="418795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24" name="Text 22"/>
          <p:cNvSpPr/>
          <p:nvPr/>
        </p:nvSpPr>
        <p:spPr>
          <a:xfrm>
            <a:off x="4526280" y="4297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Capacity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26280" y="48006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BinLocation.maxCapacity tracks physical limits. Directed putaway respects capacity. Fill % shown in bin dashboard.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29600" y="4023360"/>
            <a:ext cx="3657600" cy="16459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7" name="Shape 25"/>
          <p:cNvSpPr/>
          <p:nvPr/>
        </p:nvSpPr>
        <p:spPr>
          <a:xfrm>
            <a:off x="8229600" y="418795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0" y="4297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Classification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412480" y="48006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/api/inventory/abc-class — value-based: A=top 80%, B=next 15%, C=last 5%. Drives cycle count frequency.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GlobalSupply Technologies  |  User Training &amp; UAT  |  globalsupply.in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Settlement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Invoicing, e-invoicing, credit notes, COD reconciliation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12700">
            <a:solidFill>
              <a:srgbClr val="2C40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3657600" cy="164592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81051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20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Invoices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Auto-numbered per warehouse: WH-INV-000001. Linked to orders. Tracks IRN for e-invoicing.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1645920"/>
            <a:ext cx="3657600" cy="1645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Shape 9"/>
          <p:cNvSpPr/>
          <p:nvPr/>
        </p:nvSpPr>
        <p:spPr>
          <a:xfrm>
            <a:off x="4343400" y="181051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920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E-Invoicing IRN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6280" y="242316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/api/invoices/:id/einvoice — generates IRN via IRP API. Demo mode when EINVOICE_API_URL not set.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0" y="1645920"/>
            <a:ext cx="3657600" cy="164592"/>
          </a:xfrm>
          <a:prstGeom prst="rect">
            <a:avLst/>
          </a:prstGeom>
          <a:solidFill>
            <a:srgbClr val="7B6CE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0" y="181051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1920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Notes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12480" y="242316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/api/invoices/:id/credit-note — sequential WH-CN-000001. Adjusts invoice totals.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3657600" cy="164592"/>
          </a:xfrm>
          <a:prstGeom prst="rect">
            <a:avLst/>
          </a:prstGeom>
          <a:solidFill>
            <a:srgbClr val="2DBE85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418795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297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 Reconciliation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8006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settlement CSVs from marketplaces. Match by AWB/order. ₹1 tolerance for discrepancy detection.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43400" y="4023360"/>
            <a:ext cx="3657600" cy="164592"/>
          </a:xfrm>
          <a:prstGeom prst="rect">
            <a:avLst/>
          </a:prstGeom>
          <a:solidFill>
            <a:srgbClr val="FF5470"/>
          </a:solidFill>
          <a:ln/>
        </p:spPr>
      </p:sp>
      <p:sp>
        <p:nvSpPr>
          <p:cNvPr id="23" name="Shape 21"/>
          <p:cNvSpPr/>
          <p:nvPr/>
        </p:nvSpPr>
        <p:spPr>
          <a:xfrm>
            <a:off x="4343400" y="418795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24" name="Text 22"/>
          <p:cNvSpPr/>
          <p:nvPr/>
        </p:nvSpPr>
        <p:spPr>
          <a:xfrm>
            <a:off x="4526280" y="4297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 Summary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26280" y="48006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/api/cod/summary — per-marketplace breakdown, reconciled vs pending amounts, discrepancy alerts.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29600" y="4023360"/>
            <a:ext cx="3657600" cy="16459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7" name="Shape 25"/>
          <p:cNvSpPr/>
          <p:nvPr/>
        </p:nvSpPr>
        <p:spPr>
          <a:xfrm>
            <a:off x="8229600" y="418795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0" y="4297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E-Way Bill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412480" y="48006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setEwayBill updates both order and linked invoice. Tracks transport document numbers.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GlobalSupply Technologies  |  User Training &amp; UAT  |  globalsupply.in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Features &amp; Access Control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critical fixes + owner-controlled menu access per company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12700">
            <a:solidFill>
              <a:srgbClr val="2C40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3657600" cy="164592"/>
          </a:xfrm>
          <a:prstGeom prst="rect">
            <a:avLst/>
          </a:prstGeom>
          <a:solidFill>
            <a:srgbClr val="FF547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81051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20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Double-Cancel Guard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cancellation checks status before releasing inventory. Prevents phantom stock.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1645920"/>
            <a:ext cx="3657600" cy="164592"/>
          </a:xfrm>
          <a:prstGeom prst="rect">
            <a:avLst/>
          </a:prstGeom>
          <a:solidFill>
            <a:srgbClr val="FF5470"/>
          </a:solidFill>
          <a:ln/>
        </p:spPr>
      </p:sp>
      <p:sp>
        <p:nvSpPr>
          <p:cNvPr id="11" name="Shape 9"/>
          <p:cNvSpPr/>
          <p:nvPr/>
        </p:nvSpPr>
        <p:spPr>
          <a:xfrm>
            <a:off x="4343400" y="181051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920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Double-RESTOCK Guard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6280" y="242316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restock checks existing status. Prevents duplicate inventory additions.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0" y="1645920"/>
            <a:ext cx="3657600" cy="164592"/>
          </a:xfrm>
          <a:prstGeom prst="rect">
            <a:avLst/>
          </a:prstGeom>
          <a:solidFill>
            <a:srgbClr val="FF547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0" y="181051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1920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Putaway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12480" y="242316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decrement + dest increment wrapped in transaction. Prevents stock vanishing.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3657600" cy="164592"/>
          </a:xfrm>
          <a:prstGeom prst="rect">
            <a:avLst/>
          </a:prstGeom>
          <a:solidFill>
            <a:srgbClr val="FF5470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418795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297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Count Transaction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8006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 + inventory adjustment in single transaction. Prevents partial updates.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43400" y="4023360"/>
            <a:ext cx="3657600" cy="1645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3" name="Shape 21"/>
          <p:cNvSpPr/>
          <p:nvPr/>
        </p:nvSpPr>
        <p:spPr>
          <a:xfrm>
            <a:off x="4343400" y="418795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24" name="Text 22"/>
          <p:cNvSpPr/>
          <p:nvPr/>
        </p:nvSpPr>
        <p:spPr>
          <a:xfrm>
            <a:off x="4526280" y="4297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Double-Approve Guard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26280" y="48006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GRN approval checks status. Prevents duplicate inventory + putaway tasks.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29600" y="4023360"/>
            <a:ext cx="3657600" cy="164592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27" name="Shape 25"/>
          <p:cNvSpPr/>
          <p:nvPr/>
        </p:nvSpPr>
        <p:spPr>
          <a:xfrm>
            <a:off x="8229600" y="4187952"/>
            <a:ext cx="36576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0" y="4297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Access Control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412480" y="48006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assigns specific menus to each company. Sidebar filters by tenant menuAccess.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GlobalSupply Technologies  |  User Training &amp; UAT  |  globalsupply.in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Tasks — Setup &amp; Configuration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setup tasks for tenant admins and warehouse managers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12700">
            <a:solidFill>
              <a:srgbClr val="2C40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5486400" cy="1097280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645920"/>
            <a:ext cx="137160" cy="109728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37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Warehouses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→ Warehouse → Add. Set code, GSTIN, address, contact.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72200" y="1645920"/>
            <a:ext cx="5486400" cy="1097280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11" name="Shape 9"/>
          <p:cNvSpPr/>
          <p:nvPr/>
        </p:nvSpPr>
        <p:spPr>
          <a:xfrm>
            <a:off x="6172200" y="1645920"/>
            <a:ext cx="137160" cy="10972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1737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Bin Locations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6520" y="210312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→ Bin Locations → Bulk Create. Format: AISLE-RACK-SHELF (e.g. A-01-B).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5486400" cy="1097280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834640"/>
            <a:ext cx="137160" cy="1097280"/>
          </a:xfrm>
          <a:prstGeom prst="rect">
            <a:avLst/>
          </a:prstGeom>
          <a:solidFill>
            <a:srgbClr val="7B6CE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926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Suppliers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2918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→ Suppliers → Add. Code, name, GSTIN, contact, payment terms.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72200" y="2834640"/>
            <a:ext cx="5486400" cy="1097280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19" name="Shape 17"/>
          <p:cNvSpPr/>
          <p:nvPr/>
        </p:nvSpPr>
        <p:spPr>
          <a:xfrm>
            <a:off x="6172200" y="2834640"/>
            <a:ext cx="137160" cy="1097280"/>
          </a:xfrm>
          <a:prstGeom prst="rect">
            <a:avLst/>
          </a:prstGeom>
          <a:solidFill>
            <a:srgbClr val="2DBE85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2926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SKUs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46520" y="32918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→ Import → SKU. CSV with code, name, brand, HSN, MRP, weight, dimensions.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023360"/>
            <a:ext cx="5486400" cy="1097280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4023360"/>
            <a:ext cx="137160" cy="1097280"/>
          </a:xfrm>
          <a:prstGeom prst="rect">
            <a:avLst/>
          </a:prstGeom>
          <a:solidFill>
            <a:srgbClr val="FF5470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114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Users &amp; Roles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44805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→ Users → Invite. Assign role: Warehouse Mgr, Picker, Packer, etc.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72200" y="4023360"/>
            <a:ext cx="5486400" cy="1097280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27" name="Shape 25"/>
          <p:cNvSpPr/>
          <p:nvPr/>
        </p:nvSpPr>
        <p:spPr>
          <a:xfrm>
            <a:off x="6172200" y="4023360"/>
            <a:ext cx="137160" cy="109728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8" name="Text 26"/>
          <p:cNvSpPr/>
          <p:nvPr/>
        </p:nvSpPr>
        <p:spPr>
          <a:xfrm>
            <a:off x="6446520" y="4114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Couriers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46520" y="44805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→ Integrations → Couriers. Enter API token for Delhivery, BlueDart, etc.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5212080"/>
            <a:ext cx="5486400" cy="1097280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5212080"/>
            <a:ext cx="137160" cy="109728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5303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Reorder Points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1520" y="566928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→ Reorder Config. Per-warehouse per-SKU min/max levels.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72200" y="5212080"/>
            <a:ext cx="5486400" cy="1097280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35" name="Shape 33"/>
          <p:cNvSpPr/>
          <p:nvPr/>
        </p:nvSpPr>
        <p:spPr>
          <a:xfrm>
            <a:off x="6172200" y="5212080"/>
            <a:ext cx="137160" cy="10972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6" name="Text 34"/>
          <p:cNvSpPr/>
          <p:nvPr/>
        </p:nvSpPr>
        <p:spPr>
          <a:xfrm>
            <a:off x="6446520" y="5303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Integrations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46520" y="566928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→ Integrations → Channels. Shopify, Amazon, Nykaa, Myntra, Flipkart, TataCliq.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6400800"/>
            <a:ext cx="5486400" cy="1097280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39" name="Shape 37"/>
          <p:cNvSpPr/>
          <p:nvPr/>
        </p:nvSpPr>
        <p:spPr>
          <a:xfrm>
            <a:off x="457200" y="6400800"/>
            <a:ext cx="137160" cy="109728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40" name="Text 38"/>
          <p:cNvSpPr/>
          <p:nvPr/>
        </p:nvSpPr>
        <p:spPr>
          <a:xfrm>
            <a:off x="731520" y="64922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Access Control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31520" y="685800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→ Companies → Edit. Owner selects which menus each company can access. Controls feature visibility.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GlobalSupply Technologies  |  User Training &amp; UAT  |  globalsupply.in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35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— Test Plan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manual test cases across 6 modules. Each with pre-conditions, steps, and expected results.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12700">
            <a:solidFill>
              <a:srgbClr val="2C40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2743200" cy="164592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810512"/>
            <a:ext cx="2743200" cy="184708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20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(6 tests)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PO-001 to PO-006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645920"/>
            <a:ext cx="2743200" cy="1645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Shape 9"/>
          <p:cNvSpPr/>
          <p:nvPr/>
        </p:nvSpPr>
        <p:spPr>
          <a:xfrm>
            <a:off x="3337560" y="1810512"/>
            <a:ext cx="2743200" cy="184708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920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GRN + QC (5 tests)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0440" y="24231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GRN-001 to GRN-005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645920"/>
            <a:ext cx="2743200" cy="164592"/>
          </a:xfrm>
          <a:prstGeom prst="rect">
            <a:avLst/>
          </a:prstGeom>
          <a:solidFill>
            <a:srgbClr val="7B6CE0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1810512"/>
            <a:ext cx="2743200" cy="184708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920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(5 tests)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24231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INV-001 to INV-005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098280" y="1645920"/>
            <a:ext cx="2743200" cy="164592"/>
          </a:xfrm>
          <a:prstGeom prst="rect">
            <a:avLst/>
          </a:prstGeom>
          <a:solidFill>
            <a:srgbClr val="2DBE85"/>
          </a:solidFill>
          <a:ln/>
        </p:spPr>
      </p:sp>
      <p:sp>
        <p:nvSpPr>
          <p:cNvPr id="19" name="Shape 17"/>
          <p:cNvSpPr/>
          <p:nvPr/>
        </p:nvSpPr>
        <p:spPr>
          <a:xfrm>
            <a:off x="9098280" y="1810512"/>
            <a:ext cx="2743200" cy="184708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20" name="Text 18"/>
          <p:cNvSpPr/>
          <p:nvPr/>
        </p:nvSpPr>
        <p:spPr>
          <a:xfrm>
            <a:off x="9281160" y="1920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(6 tests)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281160" y="24231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ORD-001 to ORD-006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2743200" cy="164592"/>
          </a:xfrm>
          <a:prstGeom prst="rect">
            <a:avLst/>
          </a:prstGeom>
          <a:solidFill>
            <a:srgbClr val="FF5470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4005072"/>
            <a:ext cx="2743200" cy="184708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114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Packing (4 tests)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461772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PCK-001 to PCK-004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37560" y="3840480"/>
            <a:ext cx="2743200" cy="16459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7" name="Shape 25"/>
          <p:cNvSpPr/>
          <p:nvPr/>
        </p:nvSpPr>
        <p:spPr>
          <a:xfrm>
            <a:off x="3337560" y="4005072"/>
            <a:ext cx="2743200" cy="184708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28" name="Text 26"/>
          <p:cNvSpPr/>
          <p:nvPr/>
        </p:nvSpPr>
        <p:spPr>
          <a:xfrm>
            <a:off x="3520440" y="4114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(3 tests)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520440" y="461772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RET-001 to RET-003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3840480"/>
            <a:ext cx="2743200" cy="164592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1" name="Shape 29"/>
          <p:cNvSpPr/>
          <p:nvPr/>
        </p:nvSpPr>
        <p:spPr>
          <a:xfrm>
            <a:off x="6217920" y="4005072"/>
            <a:ext cx="2743200" cy="184708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4114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(3 tests)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00800" y="461772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ADM-001 to ADM-003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5760720"/>
            <a:ext cx="11247120" cy="6400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57607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this deck:  1. Read pre-conditions  •  2. Execute test steps in order  •  3. Verify expected result  •  4. Mark Pass/Fail in the last column  •  5. Sign-off on completion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GlobalSupply Technologies  |  User Training &amp; UAT  |  globalsupply.in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35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Test Cases — Inbound (PO + ASN)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test cases for the Inbound (PO + ASN) module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12700">
            <a:solidFill>
              <a:srgbClr val="2C4068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194560"/>
                <a:gridCol w="2011680"/>
                <a:gridCol w="3108960"/>
                <a:gridCol w="2286000"/>
                <a:gridCol w="7315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Pre-Conditions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Steps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Pass/Fail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DBD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PO-001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 new Purchase Order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Logged in as Warehouse Manager. Supplier exists in system.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Go to Inbound → Purchase Orders → New 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Select supplier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Add 2 SKUs with qty 10 and 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Click Create 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 created with status DRAFT. PO number auto-generated.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DBD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PO-002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a DRAFT 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 exists in DRAFT status.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Open the DRAFT 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Click Approve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Confirm approval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changes to APPROVED. ASN can now be linked.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DBD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PO-003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ASN to an APPROVED 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 is APPROVED.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Open 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Click Add ASN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Enter expected date, qty, vehicle no.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Save ASN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ASN visible in Inbound → ASN tab with status EXPECTED.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DBD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PO-004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 a partial shipment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ASN exists with qty 10. Supplier delivers 8.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Open ASN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Click Receive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Enter received qty = 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Save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ASN marked PARTIALLY_RECEIVED. PO status remains APPROVED.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DBD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PO-005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a Purchase Order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 in DRAFT status.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Open 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Click Reject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Provide rejection reason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 status changes to REJECTED. ASN cannot be created.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DBD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PO-006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 POs via CSV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file in correct format.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Go to Inbound → Import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Upload CSV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Click Import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 created in bulk. Import summary shows count of created/failed.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GlobalSupply Technologies  |  User Training &amp; UAT  |  globalsupply.in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25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Test Cases — GRN + Quality Check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test cases for the GRN + Quality Check module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12700">
            <a:solidFill>
              <a:srgbClr val="2C4068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194560"/>
                <a:gridCol w="2011680"/>
                <a:gridCol w="3108960"/>
                <a:gridCol w="2286000"/>
                <a:gridCol w="7315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Pre-Conditions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Steps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Pass/Fail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GRN-001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GRN from a 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 is APPROVED. ASN is RECEIVING.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Open the 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Click GRN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Select received qty per item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Save GRN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GRN created in DRAFT status. GRN number auto-generated.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GRN-002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 items into a GRN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GRN exists in DRAFT.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Open GRN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Click Scan to Receive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Scan each item barcode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System increments received qty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Received qty increases per scan. Audit log shows each scan.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GRN-003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 items as QC Pass / Fail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GRN has all items received.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Open GRN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For each item, mark QC Pass or Fail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Enter accepted qty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QC status set per item. Rejected qty tracked separately.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GRN-004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a QC-passed GRN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items have QC status.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Open GRN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Click Approve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Confirm approval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GRN status → QC_PASSED. Putaway tasks auto-created. Inventory reflected.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GRN-005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an entire GRN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GRN has critical defects.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Open GRN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Click Reject GRN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Provide reason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GRN status → REJECTED. No putaway tasks created. Supplier notified.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GlobalSupply Technologies  |  User Training &amp; UAT  |  globalsupply.in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25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Test Cases — Inventory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test cases for the Inventory module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12700">
            <a:solidFill>
              <a:srgbClr val="2C4068"/>
            </a:solidFill>
            <a:prstDash val="solid"/>
          </a:ln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194560"/>
                <a:gridCol w="2011680"/>
                <a:gridCol w="3108960"/>
                <a:gridCol w="2286000"/>
                <a:gridCol w="7315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Pre-Conditions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Steps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Pass/Fail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7B6C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INV-001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 SKUs via CSV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file with SKU details.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Go to Inventory → Import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Upload SKU CSV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Click Import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SKUs created. EPC codes auto-generated. Import summary shown.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7B6C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INV-002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a blind cycle count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 has known quantity.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Go to Inventory → Cycle Count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Select bin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Enter counted qty (different from actual)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Save count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Variance report generated. Adjustment posted after manager approval.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7B6C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INV-003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reorder point for an SKU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 and bin exist.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Open SKU detail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Set reorder point = 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Save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stock &lt; 10, replenishment alert raised automatically.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7B6C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INV-004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SKU history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 has movements.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Go to SKU History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Search for SKU code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View event timeline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events shown with running balance. Source/target facility tracked.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7B6C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INV-005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 stock between bins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bins exist, stock in source.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Open Inventory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Select item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Click Transfer Bin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Select destination bin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Confirm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 moved. Transfer logged in SKU history.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GlobalSupply Technologies  |  User Training &amp; UAT  |  globalsupply.in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25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Test Cases — Outbound (Orders + Wave)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test cases for the Outbound (Orders + Wave) module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12700">
            <a:solidFill>
              <a:srgbClr val="2C4068"/>
            </a:solidFill>
            <a:prstDash val="solid"/>
          </a:ln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194560"/>
                <a:gridCol w="2011680"/>
                <a:gridCol w="3108960"/>
                <a:gridCol w="2286000"/>
                <a:gridCol w="7315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Pre-Conditions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Steps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Pass/Fail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ORD-001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 order from marketplace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 integration active.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Go to Orders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Wait for sync OR click Sync Now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Find the new order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appears with status PENDING. Source = marketplace name.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ORD-002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Manually create an order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and SKU exist.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Go to Orders → New Order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Enter customer, address, items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Save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created with status PENDING. Order number generated.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ORD-003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 wave from pending orders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5+ orders in PENDING.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Go to Wave Picking → New Wave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Name the wave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Select 5 orders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Create wave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 created with status PENDING. Order statuses → PROCESSING.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ORD-004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a wave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 in PENDING status.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Open wave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Click Start Picking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 → IN_PROGRESS. Order statuses → PICKING.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ORD-005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 items while wave picking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 IN_PROGRESS.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Open wave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Click an order tab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Scan each SKU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Verify qty increments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Scanned qty increases per scan. Partial status shown in amber.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ORD-006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with short pick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has partial scan (e.g., 1/2).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Open wave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Click Process with Short Pick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Confirm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→ PACKING. Item marked PICKED despite short count.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GlobalSupply Technologies  |  User Training &amp; UAT  |  globalsupply.in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25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Test Cases — Packing Station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test cases for the Packing Station module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12700">
            <a:solidFill>
              <a:srgbClr val="2C4068"/>
            </a:solidFill>
            <a:prstDash val="solid"/>
          </a:ln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194560"/>
                <a:gridCol w="2011680"/>
                <a:gridCol w="3108960"/>
                <a:gridCol w="2286000"/>
                <a:gridCol w="7315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Pre-Conditions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Steps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Pass/Fail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5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PCK-001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 an order (full qty)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in PACKING status.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Go to Packing → Ready to Pack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Select order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Scan each SKU to full qty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Verify all packed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Download Invoice + Generate AWB buttons enabled.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5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PCK-002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over-scanning per SKU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has 1 unit of SKU X.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Open order in packing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Scan SKU 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Try scanning SKU X again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 scan rejected. Error: "already packed 1/1".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5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PCK-003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 invoice and AWB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items packed.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Click Download Invoice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Select courier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Click Generate AWB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invoice downloaded. AWB number shown. Order → SHIPPED.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5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PCK-004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Reprint invoice from Recently Packed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in SHIPPED status.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Go to Packing → Recently Packed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Find order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Click Invoice button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 PDF re-downloaded. Same format as original.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GlobalSupply Technologies  |  User Training &amp; UAT  |  globalsupply.in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25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Test Cases — Returns &amp; RTO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test cases for the Returns &amp; RTO module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12700">
            <a:solidFill>
              <a:srgbClr val="2C4068"/>
            </a:solidFill>
            <a:prstDash val="solid"/>
          </a:ln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194560"/>
                <a:gridCol w="2011680"/>
                <a:gridCol w="3108960"/>
                <a:gridCol w="2286000"/>
                <a:gridCol w="7315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Pre-Conditions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Steps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Pass/Fail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EC48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RET-001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 customer return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is SHIPPED or DELIVERED.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Go to Returns → New Return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Select order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Mark items as return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Save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created in INITIATED status. Reverse pickup scheduled.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EC48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RET-002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Intake returned items at warehouse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in TRANSIT status, items arrived.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Open return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Scan each returned item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Mark condition: Good / Damaged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Save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status → RECEIVED. QC step enabled.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EC48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RET-003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Restock a returned item to bin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in QC_PASSED status.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Open return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For each item, choose Restock or Refund Only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For restock, select bin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Confirm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Restock: inventory +1 in chosen bin. If Refund: bad inventory. Return → CLOSED.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GlobalSupply Technologies  |  User Training &amp; UAT  |  globalsupply.in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25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Test Cases — Administration &amp; Setup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test cases for the Administration &amp; Setup module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12700">
            <a:solidFill>
              <a:srgbClr val="2C4068"/>
            </a:solidFill>
            <a:prstDash val="solid"/>
          </a:ln>
        </p:spPr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194560"/>
                <a:gridCol w="2011680"/>
                <a:gridCol w="3108960"/>
                <a:gridCol w="2286000"/>
                <a:gridCol w="7315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Pre-Conditions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Steps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Pass/Fail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DBD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ADM-001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 new user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Logged in as Tenant Admin.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Go to Admin → Users → Invite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Enter email, name, role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Click Send Invite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created in INVITED status. Email sent (if SMTP configured).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DBD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ADM-002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Configure a courier integration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Courier API token available.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Go to Admin → Integrations → Couriers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Select Delhivery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Paste API token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Save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Courier marked as CONFIGURED. AWB generation uses real API.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DBD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ADM-003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Bulk-create bin locations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 exists.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Go to Admin → Bins → Bulk Create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Enter pattern (e.g. A-01-A to A-05-D)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Click Generate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B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matching bin locations created. Visible in bin picker.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8A95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 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GlobalSupply Technologies  |  User Training &amp; UAT  |  globalsupply.in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— Overall Execution Tracker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module progress as testers complete each suite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12700">
            <a:solidFill>
              <a:srgbClr val="2C40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1600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0" y="1600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1600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0" y="1600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0" y="1600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Run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0" y="1600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103120"/>
            <a:ext cx="11247120" cy="457200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103120"/>
            <a:ext cx="137160" cy="45720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1031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86000" y="21031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21031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B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0" y="21031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0" y="21031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26480" y="21031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0" y="2267712"/>
            <a:ext cx="4114800" cy="13716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0" y="2103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606040"/>
            <a:ext cx="11247120" cy="457200"/>
          </a:xfrm>
          <a:prstGeom prst="rect">
            <a:avLst/>
          </a:prstGeom>
          <a:solidFill>
            <a:srgbClr val="2C4068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2606040"/>
            <a:ext cx="137160" cy="4572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26060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GRN + QC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86000" y="2606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00400" y="2606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B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114800" y="2606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029200" y="26060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126480" y="26060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315200" y="2770632"/>
            <a:ext cx="4114800" cy="13716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0" y="26060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108960"/>
            <a:ext cx="11247120" cy="457200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35" name="Shape 33"/>
          <p:cNvSpPr/>
          <p:nvPr/>
        </p:nvSpPr>
        <p:spPr>
          <a:xfrm>
            <a:off x="457200" y="3108960"/>
            <a:ext cx="137160" cy="457200"/>
          </a:xfrm>
          <a:prstGeom prst="rect">
            <a:avLst/>
          </a:prstGeom>
          <a:solidFill>
            <a:srgbClr val="7B6CE0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31089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286000" y="31089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200400" y="31089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B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114800" y="31089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029200" y="31089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126480" y="31089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315200" y="3273552"/>
            <a:ext cx="4114800" cy="13716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43" name="Text 41"/>
          <p:cNvSpPr/>
          <p:nvPr/>
        </p:nvSpPr>
        <p:spPr>
          <a:xfrm>
            <a:off x="7315200" y="31089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3611880"/>
            <a:ext cx="11247120" cy="457200"/>
          </a:xfrm>
          <a:prstGeom prst="rect">
            <a:avLst/>
          </a:prstGeom>
          <a:solidFill>
            <a:srgbClr val="2C4068"/>
          </a:solidFill>
          <a:ln/>
        </p:spPr>
      </p:sp>
      <p:sp>
        <p:nvSpPr>
          <p:cNvPr id="45" name="Shape 43"/>
          <p:cNvSpPr/>
          <p:nvPr/>
        </p:nvSpPr>
        <p:spPr>
          <a:xfrm>
            <a:off x="457200" y="3611880"/>
            <a:ext cx="137160" cy="457200"/>
          </a:xfrm>
          <a:prstGeom prst="rect">
            <a:avLst/>
          </a:prstGeom>
          <a:solidFill>
            <a:srgbClr val="2DBE85"/>
          </a:solidFill>
          <a:ln/>
        </p:spPr>
      </p:sp>
      <p:sp>
        <p:nvSpPr>
          <p:cNvPr id="46" name="Text 44"/>
          <p:cNvSpPr/>
          <p:nvPr/>
        </p:nvSpPr>
        <p:spPr>
          <a:xfrm>
            <a:off x="731520" y="36118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286000" y="36118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200400" y="36118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B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4114800" y="36118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5029200" y="3611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126480" y="3611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315200" y="3776472"/>
            <a:ext cx="4114800" cy="13716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53" name="Text 51"/>
          <p:cNvSpPr/>
          <p:nvPr/>
        </p:nvSpPr>
        <p:spPr>
          <a:xfrm>
            <a:off x="7315200" y="36118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55" name="Shape 53"/>
          <p:cNvSpPr/>
          <p:nvPr/>
        </p:nvSpPr>
        <p:spPr>
          <a:xfrm>
            <a:off x="457200" y="4114800"/>
            <a:ext cx="137160" cy="457200"/>
          </a:xfrm>
          <a:prstGeom prst="rect">
            <a:avLst/>
          </a:prstGeom>
          <a:solidFill>
            <a:srgbClr val="FF5470"/>
          </a:solidFill>
          <a:ln/>
        </p:spPr>
      </p:sp>
      <p:sp>
        <p:nvSpPr>
          <p:cNvPr id="56" name="Text 54"/>
          <p:cNvSpPr/>
          <p:nvPr/>
        </p:nvSpPr>
        <p:spPr>
          <a:xfrm>
            <a:off x="731520" y="41148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Packing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2286000" y="41148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3200400" y="41148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B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4114800" y="41148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5029200" y="41148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6126480" y="41148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7315200" y="4279392"/>
            <a:ext cx="4114800" cy="13716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63" name="Text 61"/>
          <p:cNvSpPr/>
          <p:nvPr/>
        </p:nvSpPr>
        <p:spPr>
          <a:xfrm>
            <a:off x="7315200" y="4114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57200" y="4617720"/>
            <a:ext cx="11247120" cy="457200"/>
          </a:xfrm>
          <a:prstGeom prst="rect">
            <a:avLst/>
          </a:prstGeom>
          <a:solidFill>
            <a:srgbClr val="2C4068"/>
          </a:solidFill>
          <a:ln/>
        </p:spPr>
      </p:sp>
      <p:sp>
        <p:nvSpPr>
          <p:cNvPr id="65" name="Shape 63"/>
          <p:cNvSpPr/>
          <p:nvPr/>
        </p:nvSpPr>
        <p:spPr>
          <a:xfrm>
            <a:off x="457200" y="4617720"/>
            <a:ext cx="137160" cy="4572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66" name="Text 64"/>
          <p:cNvSpPr/>
          <p:nvPr/>
        </p:nvSpPr>
        <p:spPr>
          <a:xfrm>
            <a:off x="731520" y="46177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2286000" y="46177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3200400" y="46177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B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4114800" y="46177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5029200" y="4617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6126480" y="4617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7315200" y="4782312"/>
            <a:ext cx="4114800" cy="13716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73" name="Text 71"/>
          <p:cNvSpPr/>
          <p:nvPr/>
        </p:nvSpPr>
        <p:spPr>
          <a:xfrm>
            <a:off x="7315200" y="46177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457200" y="5120640"/>
            <a:ext cx="11247120" cy="457200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75" name="Shape 73"/>
          <p:cNvSpPr/>
          <p:nvPr/>
        </p:nvSpPr>
        <p:spPr>
          <a:xfrm>
            <a:off x="457200" y="5120640"/>
            <a:ext cx="137160" cy="45720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76" name="Text 74"/>
          <p:cNvSpPr/>
          <p:nvPr/>
        </p:nvSpPr>
        <p:spPr>
          <a:xfrm>
            <a:off x="731520" y="5120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2286000" y="51206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3200400" y="51206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B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400" dirty="0"/>
          </a:p>
        </p:txBody>
      </p:sp>
      <p:sp>
        <p:nvSpPr>
          <p:cNvPr id="79" name="Text 77"/>
          <p:cNvSpPr/>
          <p:nvPr/>
        </p:nvSpPr>
        <p:spPr>
          <a:xfrm>
            <a:off x="4114800" y="51206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400" dirty="0"/>
          </a:p>
        </p:txBody>
      </p:sp>
      <p:sp>
        <p:nvSpPr>
          <p:cNvPr id="80" name="Text 78"/>
          <p:cNvSpPr/>
          <p:nvPr/>
        </p:nvSpPr>
        <p:spPr>
          <a:xfrm>
            <a:off x="5029200" y="51206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400" dirty="0"/>
          </a:p>
        </p:txBody>
      </p:sp>
      <p:sp>
        <p:nvSpPr>
          <p:cNvPr id="81" name="Text 79"/>
          <p:cNvSpPr/>
          <p:nvPr/>
        </p:nvSpPr>
        <p:spPr>
          <a:xfrm>
            <a:off x="6126480" y="51206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7315200" y="5285232"/>
            <a:ext cx="4114800" cy="13716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83" name="Text 81"/>
          <p:cNvSpPr/>
          <p:nvPr/>
        </p:nvSpPr>
        <p:spPr>
          <a:xfrm>
            <a:off x="7315200" y="51206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457200" y="5669280"/>
            <a:ext cx="11247120" cy="6400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5" name="Text 83"/>
          <p:cNvSpPr/>
          <p:nvPr/>
        </p:nvSpPr>
        <p:spPr>
          <a:xfrm>
            <a:off x="457200" y="56692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32 tests across 7 modules  •  Target: 100% Pass  •  Acceptance: &lt; 2 Critical, &lt; 5 High defects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GlobalSupply Technologies  |  User Training &amp; UAT  |  globalsupply.in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35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— Defect Log Template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any failures found during testing. Use this format for triage.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12700">
            <a:solidFill>
              <a:srgbClr val="2C4068"/>
            </a:solidFill>
            <a:prstDash val="solid"/>
          </a:ln>
        </p:spPr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2743200"/>
                <a:gridCol w="1097280"/>
                <a:gridCol w="3200400"/>
                <a:gridCol w="1097280"/>
                <a:gridCol w="128016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Defect 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Steps to Reproduce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5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BUG-001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PCK-002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Over-scan allowed when order has 0 qty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5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Create order with 0 qty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Open in Packing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Scan SKU 3 times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Open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5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BUG-002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INV-002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 count variance not shown in dashboard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Run cycle count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Enter wrong qty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Check dashboard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Open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5120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legend: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5486400"/>
            <a:ext cx="137160" cy="365760"/>
          </a:xfrm>
          <a:prstGeom prst="rect">
            <a:avLst/>
          </a:prstGeom>
          <a:solidFill>
            <a:srgbClr val="FF5470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5486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— blocks testing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91840" y="5486400"/>
            <a:ext cx="137160" cy="3657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8"/>
          <p:cNvSpPr/>
          <p:nvPr/>
        </p:nvSpPr>
        <p:spPr>
          <a:xfrm>
            <a:off x="3566160" y="5486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major feature broken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126480" y="5486400"/>
            <a:ext cx="137160" cy="3657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0" y="5486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— minor feature issue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961120" y="5486400"/>
            <a:ext cx="137160" cy="365760"/>
          </a:xfrm>
          <a:prstGeom prst="rect">
            <a:avLst/>
          </a:prstGeom>
          <a:solidFill>
            <a:srgbClr val="2DBE85"/>
          </a:solidFill>
          <a:ln/>
        </p:spPr>
      </p:sp>
      <p:sp>
        <p:nvSpPr>
          <p:cNvPr id="15" name="Text 12"/>
          <p:cNvSpPr/>
          <p:nvPr/>
        </p:nvSpPr>
        <p:spPr>
          <a:xfrm>
            <a:off x="9235440" y="5486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cosmetic / typo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GlobalSupply Technologies  |  User Training &amp; UAT  |  globalsupply.in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35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Environment &amp; Setup Checklist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the test environment is ready before starting UAT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12700">
            <a:solidFill>
              <a:srgbClr val="2C40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5486400" cy="164592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810512"/>
            <a:ext cx="54864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20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Production-like staging environment at oms-wms-staging.onrender.com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 database seeded with 50+ SKUs, 8+ bins, 5+ orders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Couriers in TEST mode (no real AWBs generated)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Cloudflare / CDN disabled for direct API access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72200" y="1645920"/>
            <a:ext cx="5486400" cy="1645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Shape 9"/>
          <p:cNvSpPr/>
          <p:nvPr/>
        </p:nvSpPr>
        <p:spPr>
          <a:xfrm>
            <a:off x="6172200" y="1810512"/>
            <a:ext cx="54864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1920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Users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55080" y="24231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admin@supplyhub-test.com  •  Tenant Admin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mgr.mumbai@supplyhub-test.com  •  Warehouse Manager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picker1@supplyhub-test.com  •  Picker role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packer1@supplyhub-test.com  •  Packer role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passwords: Test@1234 (change after first login)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023360"/>
            <a:ext cx="5486400" cy="164592"/>
          </a:xfrm>
          <a:prstGeom prst="rect">
            <a:avLst/>
          </a:prstGeom>
          <a:solidFill>
            <a:srgbClr val="7B6CE0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4187952"/>
            <a:ext cx="54864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2976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80060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 POs (mix of DRAFT, APPROVED, ASN linked)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 GRNs (mix of RECEIVING, QC_PASSED, QC_FAILED)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30 orders (mix of PENDING, PROCESSING, PICKING, PACKING, SHIPPED)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 closed manifest for re-print testing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Sample customer returns (3 items)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72200" y="4023360"/>
            <a:ext cx="5486400" cy="164592"/>
          </a:xfrm>
          <a:prstGeom prst="rect">
            <a:avLst/>
          </a:prstGeom>
          <a:solidFill>
            <a:srgbClr val="2DBE85"/>
          </a:solidFill>
          <a:ln/>
        </p:spPr>
      </p:sp>
      <p:sp>
        <p:nvSpPr>
          <p:cNvPr id="19" name="Shape 17"/>
          <p:cNvSpPr/>
          <p:nvPr/>
        </p:nvSpPr>
        <p:spPr>
          <a:xfrm>
            <a:off x="6172200" y="4187952"/>
            <a:ext cx="5486400" cy="2029968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42976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Access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55080" y="480060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Browser: Chrome latest, Firefox latest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 devices: 1 desktop, 1 mobile (Android), 1 scanner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PDF reader for invoice/label validation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Bug tracker: Linear / Jira / GitHub Issues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Slack/Teams channel for live questions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GlobalSupply Technologies  |  User Training &amp; UAT  |  globalsupply.in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35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Sign-Off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criteria: 100% pass on Critical &amp; High tests. &lt; 5 Medium defects.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47120" cy="0"/>
          </a:xfrm>
          <a:prstGeom prst="line">
            <a:avLst/>
          </a:prstGeom>
          <a:noFill/>
          <a:ln w="12700">
            <a:solidFill>
              <a:srgbClr val="2C4068"/>
            </a:solidFill>
            <a:prstDash val="solid"/>
          </a:ln>
        </p:spPr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286000"/>
                <a:gridCol w="2743200"/>
                <a:gridCol w="1828800"/>
                <a:gridCol w="164592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6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UAT Lead (Client)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________________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________________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______________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DBD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Accept  ☐ Reject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 Manager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________________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________________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______________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DBD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Accept  ☐ Reject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Tenant Admin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________________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________________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______________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DBD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Accept  ☐ Reject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Manager (SupplyHub)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________________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________________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______________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DBD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Accept  ☐ Reject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572000"/>
            <a:ext cx="11247120" cy="1645920"/>
          </a:xfrm>
          <a:prstGeom prst="rect">
            <a:avLst/>
          </a:prstGeom>
          <a:solidFill>
            <a:srgbClr val="243860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4572000"/>
            <a:ext cx="137160" cy="1645920"/>
          </a:xfrm>
          <a:prstGeom prst="rect">
            <a:avLst/>
          </a:prstGeom>
          <a:solidFill>
            <a:srgbClr val="2DBE85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4663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B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498348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32 UAT test cases executed and signed off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Zero open Critical or High severity defects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&lt; 5 open Medium severity defects (with workaround)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key workflows demonstrated: Inbound, Outbound, Returns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PDFs (Invoice, Label, Manifest) match Uniware format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Performance: any page loads in &lt; 3 seconds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Go-live date and training schedule confirmed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GlobalSupply Technologies  |  User Training &amp; UAT  |  globalsupply.in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35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DBDA7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097280"/>
            <a:ext cx="121916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🎉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Ready to Go Live!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566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DB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your team. Run UAT. Sign off. Ship.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71600" y="4572000"/>
            <a:ext cx="3017520" cy="914400"/>
          </a:xfrm>
          <a:prstGeom prst="roundRect">
            <a:avLst>
              <a:gd name="adj" fmla="val 5000"/>
            </a:avLst>
          </a:prstGeom>
          <a:solidFill>
            <a:srgbClr val="3DBDA7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5720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Schedule a Walkthrough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4572000"/>
            <a:ext cx="3017520" cy="914400"/>
          </a:xfrm>
          <a:prstGeom prst="roundRect">
            <a:avLst>
              <a:gd name="adj" fmla="val 5000"/>
            </a:avLst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45720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Download This Deck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38160" y="4572000"/>
            <a:ext cx="3017520" cy="914400"/>
          </a:xfrm>
          <a:prstGeom prst="roundRect">
            <a:avLst>
              <a:gd name="adj" fmla="val 5000"/>
            </a:avLst>
          </a:prstGeom>
          <a:solidFill>
            <a:srgbClr val="2DBE85"/>
          </a:solidFill>
          <a:ln/>
        </p:spPr>
      </p:sp>
      <p:sp>
        <p:nvSpPr>
          <p:cNvPr id="11" name="Text 9"/>
          <p:cNvSpPr/>
          <p:nvPr/>
        </p:nvSpPr>
        <p:spPr>
          <a:xfrm>
            <a:off x="8138160" y="45720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Start a Free Pilot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globalsupply.in  •  hello@globalsupply.in  •  India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GlobalSupply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GlobalSupply Technologies — Process Flow &amp; UAT</dc:title>
  <dc:subject>User Training &amp; UAT Test Cases</dc:subject>
  <dc:creator>GlobalSupply Technologies</dc:creator>
  <cp:lastModifiedBy>GlobalSupply Technologies</cp:lastModifiedBy>
  <cp:revision>1</cp:revision>
  <dcterms:created xsi:type="dcterms:W3CDTF">2026-06-09T03:11:45Z</dcterms:created>
  <dcterms:modified xsi:type="dcterms:W3CDTF">2026-06-09T03:11:45Z</dcterms:modified>
</cp:coreProperties>
</file>